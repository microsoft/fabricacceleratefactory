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7" r:id="rId5"/>
  </p:sldMasterIdLst>
  <p:notesMasterIdLst>
    <p:notesMasterId r:id="rId16"/>
  </p:notesMasterIdLst>
  <p:sldIdLst>
    <p:sldId id="293" r:id="rId6"/>
    <p:sldId id="269" r:id="rId7"/>
    <p:sldId id="256" r:id="rId8"/>
    <p:sldId id="257" r:id="rId9"/>
    <p:sldId id="294" r:id="rId10"/>
    <p:sldId id="292" r:id="rId11"/>
    <p:sldId id="296" r:id="rId12"/>
    <p:sldId id="298" r:id="rId13"/>
    <p:sldId id="299" r:id="rId14"/>
    <p:sldId id="30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E64"/>
    <a:srgbClr val="0E2841"/>
    <a:srgbClr val="437578"/>
    <a:srgbClr val="091929"/>
    <a:srgbClr val="2A2A2A"/>
    <a:srgbClr val="41574E"/>
    <a:srgbClr val="C9969D"/>
    <a:srgbClr val="773BA5"/>
    <a:srgbClr val="D9F7E3"/>
    <a:srgbClr val="135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43" autoAdjust="0"/>
  </p:normalViewPr>
  <p:slideViewPr>
    <p:cSldViewPr snapToGrid="0">
      <p:cViewPr varScale="1">
        <p:scale>
          <a:sx n="147" d="100"/>
          <a:sy n="147" d="100"/>
        </p:scale>
        <p:origin x="7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nivasan Thandapani" userId="e5155cda-bac1-4032-8b1c-34a5bab2b095" providerId="ADAL" clId="{04B7ACD7-1623-4EB3-9A70-E1489706825E}"/>
    <pc:docChg chg="modSld">
      <pc:chgData name="Srinivasan Thandapani" userId="e5155cda-bac1-4032-8b1c-34a5bab2b095" providerId="ADAL" clId="{04B7ACD7-1623-4EB3-9A70-E1489706825E}" dt="2026-03-03T23:39:02.459" v="15" actId="20577"/>
      <pc:docMkLst>
        <pc:docMk/>
      </pc:docMkLst>
      <pc:sldChg chg="modSp mod">
        <pc:chgData name="Srinivasan Thandapani" userId="e5155cda-bac1-4032-8b1c-34a5bab2b095" providerId="ADAL" clId="{04B7ACD7-1623-4EB3-9A70-E1489706825E}" dt="2026-03-03T23:37:03.516" v="3" actId="20577"/>
        <pc:sldMkLst>
          <pc:docMk/>
          <pc:sldMk cId="456734417" sldId="256"/>
        </pc:sldMkLst>
        <pc:graphicFrameChg chg="modGraphic">
          <ac:chgData name="Srinivasan Thandapani" userId="e5155cda-bac1-4032-8b1c-34a5bab2b095" providerId="ADAL" clId="{04B7ACD7-1623-4EB3-9A70-E1489706825E}" dt="2026-03-03T23:37:03.516" v="3" actId="20577"/>
          <ac:graphicFrameMkLst>
            <pc:docMk/>
            <pc:sldMk cId="456734417" sldId="256"/>
            <ac:graphicFrameMk id="7" creationId="{A8AE9897-B571-8BAE-3CB3-86CEBFDAEB3C}"/>
          </ac:graphicFrameMkLst>
        </pc:graphicFrameChg>
      </pc:sldChg>
      <pc:sldChg chg="modSp mod">
        <pc:chgData name="Srinivasan Thandapani" userId="e5155cda-bac1-4032-8b1c-34a5bab2b095" providerId="ADAL" clId="{04B7ACD7-1623-4EB3-9A70-E1489706825E}" dt="2026-03-03T23:38:19.708" v="7" actId="20577"/>
        <pc:sldMkLst>
          <pc:docMk/>
          <pc:sldMk cId="939839555" sldId="292"/>
        </pc:sldMkLst>
        <pc:spChg chg="mod">
          <ac:chgData name="Srinivasan Thandapani" userId="e5155cda-bac1-4032-8b1c-34a5bab2b095" providerId="ADAL" clId="{04B7ACD7-1623-4EB3-9A70-E1489706825E}" dt="2026-03-03T23:38:19.708" v="7" actId="20577"/>
          <ac:spMkLst>
            <pc:docMk/>
            <pc:sldMk cId="939839555" sldId="292"/>
            <ac:spMk id="53" creationId="{FF4F3BFC-9F36-65CF-6E59-2485AFCBA28B}"/>
          </ac:spMkLst>
        </pc:spChg>
      </pc:sldChg>
      <pc:sldChg chg="modSp mod">
        <pc:chgData name="Srinivasan Thandapani" userId="e5155cda-bac1-4032-8b1c-34a5bab2b095" providerId="ADAL" clId="{04B7ACD7-1623-4EB3-9A70-E1489706825E}" dt="2026-03-03T23:39:02.459" v="15" actId="20577"/>
        <pc:sldMkLst>
          <pc:docMk/>
          <pc:sldMk cId="17349731" sldId="300"/>
        </pc:sldMkLst>
        <pc:graphicFrameChg chg="modGraphic">
          <ac:chgData name="Srinivasan Thandapani" userId="e5155cda-bac1-4032-8b1c-34a5bab2b095" providerId="ADAL" clId="{04B7ACD7-1623-4EB3-9A70-E1489706825E}" dt="2026-03-03T23:39:02.459" v="15" actId="20577"/>
          <ac:graphicFrameMkLst>
            <pc:docMk/>
            <pc:sldMk cId="17349731" sldId="300"/>
            <ac:graphicFrameMk id="2" creationId="{2A5AB8C7-17D3-B9FD-4A92-CD45D1A81688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96C236-C20E-4D1F-AA7B-8A5A9471EA7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19AC3A04-E6D9-4641-A5FB-33113DE517FE}">
      <dgm:prSet phldrT="[Text]" custT="1"/>
      <dgm:spPr>
        <a:solidFill>
          <a:schemeClr val="accent1">
            <a:lumMod val="75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FY25 Q4</a:t>
          </a:r>
          <a:endParaRPr lang="en-IN" sz="1100" b="1" kern="1200" dirty="0">
            <a:solidFill>
              <a:prstClr val="white"/>
            </a:solidFill>
            <a:latin typeface="Aptos" panose="020B0004020202020204"/>
            <a:ea typeface="+mn-ea"/>
            <a:cs typeface="+mn-cs"/>
          </a:endParaRPr>
        </a:p>
      </dgm:t>
    </dgm:pt>
    <dgm:pt modelId="{0DAA77E7-3565-4A37-B703-461E1B10A4A8}" type="parTrans" cxnId="{D94F53C8-03BA-4F2C-8FE7-903DC48B9DEC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776CCBB-0D0D-40F9-95A5-71E1AE12D531}" type="sibTrans" cxnId="{D94F53C8-03BA-4F2C-8FE7-903DC48B9DEC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69113E1-BCED-4B75-8B93-99CD30B82824}">
      <dgm:prSet phldrT="[Text]" custT="1"/>
      <dgm:spPr>
        <a:solidFill>
          <a:schemeClr val="accent1">
            <a:lumMod val="75000"/>
          </a:schemeClr>
        </a:solidFill>
        <a:ln>
          <a:solidFill>
            <a:schemeClr val="tx2"/>
          </a:solidFill>
        </a:ln>
      </dgm:spPr>
      <dgm:t>
        <a:bodyPr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FY26 Q1</a:t>
          </a:r>
          <a:endParaRPr lang="en-IN" sz="1100" b="1" kern="1200" dirty="0">
            <a:solidFill>
              <a:prstClr val="white"/>
            </a:solidFill>
            <a:latin typeface="Aptos" panose="020B0004020202020204"/>
            <a:ea typeface="+mn-ea"/>
            <a:cs typeface="+mn-cs"/>
          </a:endParaRPr>
        </a:p>
      </dgm:t>
    </dgm:pt>
    <dgm:pt modelId="{92D54CE2-F85D-4E65-90F6-D0931FF27257}" type="parTrans" cxnId="{FDB36148-C8DF-4CDB-A245-38F47714886A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F7C0E7D-8A95-4273-9A6F-5E40945591BB}" type="sibTrans" cxnId="{FDB36148-C8DF-4CDB-A245-38F47714886A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7DFBD1E-D0AA-4399-878B-AAA8A6CDC2A3}">
      <dgm:prSet phldrT="[Text]" custT="1"/>
      <dgm:spPr>
        <a:solidFill>
          <a:schemeClr val="accent1">
            <a:lumMod val="75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FY26 Q2</a:t>
          </a:r>
          <a:endParaRPr lang="en-IN" sz="1100" b="1" kern="1200" dirty="0">
            <a:solidFill>
              <a:prstClr val="white"/>
            </a:solidFill>
            <a:latin typeface="Aptos" panose="020B0004020202020204"/>
            <a:ea typeface="+mn-ea"/>
            <a:cs typeface="+mn-cs"/>
          </a:endParaRPr>
        </a:p>
      </dgm:t>
    </dgm:pt>
    <dgm:pt modelId="{1C09E27A-3B59-49EC-90E0-75EC6C5DB942}" type="parTrans" cxnId="{4D5EB231-7A70-4F4D-8D12-891DD83470C7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41CE65D-D877-4419-99C1-456CCCB2BA5F}" type="sibTrans" cxnId="{4D5EB231-7A70-4F4D-8D12-891DD83470C7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80CBB9D-303B-49FB-A11B-316181388F2A}">
      <dgm:prSet phldrT="[Text]" custT="1"/>
      <dgm:spPr>
        <a:solidFill>
          <a:schemeClr val="accent1">
            <a:lumMod val="75000"/>
          </a:schemeClr>
        </a:solidFill>
        <a:ln>
          <a:solidFill>
            <a:schemeClr val="tx2"/>
          </a:solidFill>
        </a:ln>
      </dgm:spPr>
      <dgm:t>
        <a:bodyPr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FY26 Q3</a:t>
          </a:r>
          <a:endParaRPr lang="en-IN" sz="1100" b="1" kern="1200" dirty="0">
            <a:solidFill>
              <a:prstClr val="white"/>
            </a:solidFill>
            <a:latin typeface="Aptos" panose="020B0004020202020204"/>
            <a:ea typeface="+mn-ea"/>
            <a:cs typeface="+mn-cs"/>
          </a:endParaRPr>
        </a:p>
      </dgm:t>
    </dgm:pt>
    <dgm:pt modelId="{5D047BF3-2EAC-4550-B3B0-AD9E512AD806}" type="parTrans" cxnId="{F0F8FE1C-F456-4E52-8747-56DF7DEF1B07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22B2F7F-5EC8-44A6-B1F5-6F437C3E8859}" type="sibTrans" cxnId="{F0F8FE1C-F456-4E52-8747-56DF7DEF1B07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755AB63-E284-4C03-B8C1-7336A720B5A2}">
      <dgm:prSet phldrT="[Text]" custT="1"/>
      <dgm:spPr>
        <a:solidFill>
          <a:schemeClr val="accent1">
            <a:lumMod val="75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lang="en-US" sz="1100" b="1" kern="1200" dirty="0">
              <a:solidFill>
                <a:schemeClr val="bg1"/>
              </a:solidFill>
              <a:latin typeface="+mn-lt"/>
              <a:ea typeface="+mn-ea"/>
              <a:cs typeface="+mn-cs"/>
            </a:rPr>
            <a:t>FY25 Q3</a:t>
          </a:r>
          <a:endParaRPr lang="en-IN" sz="1100" b="1" kern="1200" dirty="0">
            <a:solidFill>
              <a:schemeClr val="bg1"/>
            </a:solidFill>
            <a:latin typeface="+mn-lt"/>
            <a:ea typeface="+mn-ea"/>
            <a:cs typeface="+mn-cs"/>
          </a:endParaRPr>
        </a:p>
      </dgm:t>
    </dgm:pt>
    <dgm:pt modelId="{54AF3B6B-9307-4B8E-A8CC-E963881BB260}" type="sibTrans" cxnId="{0F66DD8F-66F6-495F-9B84-6E4CBABE7DCC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DDE79CF-DBB1-4676-A38B-40617A93AD8F}" type="parTrans" cxnId="{0F66DD8F-66F6-495F-9B84-6E4CBABE7DCC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1F1A016-50E3-4E68-93D2-043BD64B230A}" type="pres">
      <dgm:prSet presAssocID="{9196C236-C20E-4D1F-AA7B-8A5A9471EA70}" presName="Name0" presStyleCnt="0">
        <dgm:presLayoutVars>
          <dgm:dir/>
          <dgm:resizeHandles val="exact"/>
        </dgm:presLayoutVars>
      </dgm:prSet>
      <dgm:spPr/>
    </dgm:pt>
    <dgm:pt modelId="{29A7CCDF-81FB-40AB-A6DF-6CC451D5A1A2}" type="pres">
      <dgm:prSet presAssocID="{6755AB63-E284-4C03-B8C1-7336A720B5A2}" presName="parTxOnly" presStyleLbl="node1" presStyleIdx="0" presStyleCnt="5" custLinFactNeighborY="2303">
        <dgm:presLayoutVars>
          <dgm:bulletEnabled val="1"/>
        </dgm:presLayoutVars>
      </dgm:prSet>
      <dgm:spPr/>
    </dgm:pt>
    <dgm:pt modelId="{A33F2364-5484-4B3C-BA63-01200C5C96EB}" type="pres">
      <dgm:prSet presAssocID="{54AF3B6B-9307-4B8E-A8CC-E963881BB260}" presName="parSpace" presStyleCnt="0"/>
      <dgm:spPr/>
    </dgm:pt>
    <dgm:pt modelId="{5F72DB64-F7BA-499C-85F7-D85A94CF6B56}" type="pres">
      <dgm:prSet presAssocID="{19AC3A04-E6D9-4641-A5FB-33113DE517FE}" presName="parTxOnly" presStyleLbl="node1" presStyleIdx="1" presStyleCnt="5" custScaleX="92783" custLinFactNeighborY="2303">
        <dgm:presLayoutVars>
          <dgm:bulletEnabled val="1"/>
        </dgm:presLayoutVars>
      </dgm:prSet>
      <dgm:spPr/>
    </dgm:pt>
    <dgm:pt modelId="{F6CC3EBA-266F-4EA7-89B1-82DF6281A471}" type="pres">
      <dgm:prSet presAssocID="{F776CCBB-0D0D-40F9-95A5-71E1AE12D531}" presName="parSpace" presStyleCnt="0"/>
      <dgm:spPr/>
    </dgm:pt>
    <dgm:pt modelId="{32C41A2F-790C-484B-858C-8E98EE0A6FED}" type="pres">
      <dgm:prSet presAssocID="{869113E1-BCED-4B75-8B93-99CD30B82824}" presName="parTxOnly" presStyleLbl="node1" presStyleIdx="2" presStyleCnt="5">
        <dgm:presLayoutVars>
          <dgm:bulletEnabled val="1"/>
        </dgm:presLayoutVars>
      </dgm:prSet>
      <dgm:spPr/>
    </dgm:pt>
    <dgm:pt modelId="{5A1DE815-615A-40DD-8FC3-6D103B1203F0}" type="pres">
      <dgm:prSet presAssocID="{1F7C0E7D-8A95-4273-9A6F-5E40945591BB}" presName="parSpace" presStyleCnt="0"/>
      <dgm:spPr/>
    </dgm:pt>
    <dgm:pt modelId="{86E4DDDA-0448-402B-9508-214282D0B7B0}" type="pres">
      <dgm:prSet presAssocID="{E7DFBD1E-D0AA-4399-878B-AAA8A6CDC2A3}" presName="parTxOnly" presStyleLbl="node1" presStyleIdx="3" presStyleCnt="5">
        <dgm:presLayoutVars>
          <dgm:bulletEnabled val="1"/>
        </dgm:presLayoutVars>
      </dgm:prSet>
      <dgm:spPr/>
    </dgm:pt>
    <dgm:pt modelId="{A9759980-0C2B-4810-9940-6270CD3FE6DD}" type="pres">
      <dgm:prSet presAssocID="{141CE65D-D877-4419-99C1-456CCCB2BA5F}" presName="parSpace" presStyleCnt="0"/>
      <dgm:spPr/>
    </dgm:pt>
    <dgm:pt modelId="{4FFF2FBC-79B2-40DE-9853-6E09D73EE82D}" type="pres">
      <dgm:prSet presAssocID="{980CBB9D-303B-49FB-A11B-316181388F2A}" presName="parTxOnly" presStyleLbl="node1" presStyleIdx="4" presStyleCnt="5" custScaleX="88544" custLinFactNeighborX="2450">
        <dgm:presLayoutVars>
          <dgm:bulletEnabled val="1"/>
        </dgm:presLayoutVars>
      </dgm:prSet>
      <dgm:spPr/>
    </dgm:pt>
  </dgm:ptLst>
  <dgm:cxnLst>
    <dgm:cxn modelId="{528F770A-6E48-4BB6-9283-74FBD31D4354}" type="presOf" srcId="{19AC3A04-E6D9-4641-A5FB-33113DE517FE}" destId="{5F72DB64-F7BA-499C-85F7-D85A94CF6B56}" srcOrd="0" destOrd="0" presId="urn:microsoft.com/office/officeart/2005/8/layout/hChevron3"/>
    <dgm:cxn modelId="{F0F8FE1C-F456-4E52-8747-56DF7DEF1B07}" srcId="{9196C236-C20E-4D1F-AA7B-8A5A9471EA70}" destId="{980CBB9D-303B-49FB-A11B-316181388F2A}" srcOrd="4" destOrd="0" parTransId="{5D047BF3-2EAC-4550-B3B0-AD9E512AD806}" sibTransId="{722B2F7F-5EC8-44A6-B1F5-6F437C3E8859}"/>
    <dgm:cxn modelId="{4D5EB231-7A70-4F4D-8D12-891DD83470C7}" srcId="{9196C236-C20E-4D1F-AA7B-8A5A9471EA70}" destId="{E7DFBD1E-D0AA-4399-878B-AAA8A6CDC2A3}" srcOrd="3" destOrd="0" parTransId="{1C09E27A-3B59-49EC-90E0-75EC6C5DB942}" sibTransId="{141CE65D-D877-4419-99C1-456CCCB2BA5F}"/>
    <dgm:cxn modelId="{FDB36148-C8DF-4CDB-A245-38F47714886A}" srcId="{9196C236-C20E-4D1F-AA7B-8A5A9471EA70}" destId="{869113E1-BCED-4B75-8B93-99CD30B82824}" srcOrd="2" destOrd="0" parTransId="{92D54CE2-F85D-4E65-90F6-D0931FF27257}" sibTransId="{1F7C0E7D-8A95-4273-9A6F-5E40945591BB}"/>
    <dgm:cxn modelId="{80F9D96F-A419-4DAB-AD50-F5442B8BA2F4}" type="presOf" srcId="{869113E1-BCED-4B75-8B93-99CD30B82824}" destId="{32C41A2F-790C-484B-858C-8E98EE0A6FED}" srcOrd="0" destOrd="0" presId="urn:microsoft.com/office/officeart/2005/8/layout/hChevron3"/>
    <dgm:cxn modelId="{0F66DD8F-66F6-495F-9B84-6E4CBABE7DCC}" srcId="{9196C236-C20E-4D1F-AA7B-8A5A9471EA70}" destId="{6755AB63-E284-4C03-B8C1-7336A720B5A2}" srcOrd="0" destOrd="0" parTransId="{ADDE79CF-DBB1-4676-A38B-40617A93AD8F}" sibTransId="{54AF3B6B-9307-4B8E-A8CC-E963881BB260}"/>
    <dgm:cxn modelId="{B1E7C4A0-ACD2-41A5-BC5A-0E6F44AEDC05}" type="presOf" srcId="{E7DFBD1E-D0AA-4399-878B-AAA8A6CDC2A3}" destId="{86E4DDDA-0448-402B-9508-214282D0B7B0}" srcOrd="0" destOrd="0" presId="urn:microsoft.com/office/officeart/2005/8/layout/hChevron3"/>
    <dgm:cxn modelId="{7268AEBC-F7A7-40CF-978B-BF3E58CA699E}" type="presOf" srcId="{9196C236-C20E-4D1F-AA7B-8A5A9471EA70}" destId="{51F1A016-50E3-4E68-93D2-043BD64B230A}" srcOrd="0" destOrd="0" presId="urn:microsoft.com/office/officeart/2005/8/layout/hChevron3"/>
    <dgm:cxn modelId="{D94F53C8-03BA-4F2C-8FE7-903DC48B9DEC}" srcId="{9196C236-C20E-4D1F-AA7B-8A5A9471EA70}" destId="{19AC3A04-E6D9-4641-A5FB-33113DE517FE}" srcOrd="1" destOrd="0" parTransId="{0DAA77E7-3565-4A37-B703-461E1B10A4A8}" sibTransId="{F776CCBB-0D0D-40F9-95A5-71E1AE12D531}"/>
    <dgm:cxn modelId="{24BE5FCE-46B8-44D8-A8B4-1E6BACCF169F}" type="presOf" srcId="{980CBB9D-303B-49FB-A11B-316181388F2A}" destId="{4FFF2FBC-79B2-40DE-9853-6E09D73EE82D}" srcOrd="0" destOrd="0" presId="urn:microsoft.com/office/officeart/2005/8/layout/hChevron3"/>
    <dgm:cxn modelId="{41FF70EC-ECA1-4258-A886-18BD0536B0DC}" type="presOf" srcId="{6755AB63-E284-4C03-B8C1-7336A720B5A2}" destId="{29A7CCDF-81FB-40AB-A6DF-6CC451D5A1A2}" srcOrd="0" destOrd="0" presId="urn:microsoft.com/office/officeart/2005/8/layout/hChevron3"/>
    <dgm:cxn modelId="{0E80DB9B-3BF1-42B6-BF5B-3AE459342327}" type="presParOf" srcId="{51F1A016-50E3-4E68-93D2-043BD64B230A}" destId="{29A7CCDF-81FB-40AB-A6DF-6CC451D5A1A2}" srcOrd="0" destOrd="0" presId="urn:microsoft.com/office/officeart/2005/8/layout/hChevron3"/>
    <dgm:cxn modelId="{0409307B-BE1C-45ED-BDBD-3DDA337E6EC8}" type="presParOf" srcId="{51F1A016-50E3-4E68-93D2-043BD64B230A}" destId="{A33F2364-5484-4B3C-BA63-01200C5C96EB}" srcOrd="1" destOrd="0" presId="urn:microsoft.com/office/officeart/2005/8/layout/hChevron3"/>
    <dgm:cxn modelId="{B5B9700C-C70B-4FC2-A12E-70B07E8D0B3C}" type="presParOf" srcId="{51F1A016-50E3-4E68-93D2-043BD64B230A}" destId="{5F72DB64-F7BA-499C-85F7-D85A94CF6B56}" srcOrd="2" destOrd="0" presId="urn:microsoft.com/office/officeart/2005/8/layout/hChevron3"/>
    <dgm:cxn modelId="{F933070D-360D-4633-A953-660BBF44CC07}" type="presParOf" srcId="{51F1A016-50E3-4E68-93D2-043BD64B230A}" destId="{F6CC3EBA-266F-4EA7-89B1-82DF6281A471}" srcOrd="3" destOrd="0" presId="urn:microsoft.com/office/officeart/2005/8/layout/hChevron3"/>
    <dgm:cxn modelId="{9754B742-2D81-4FA5-9305-48733641B738}" type="presParOf" srcId="{51F1A016-50E3-4E68-93D2-043BD64B230A}" destId="{32C41A2F-790C-484B-858C-8E98EE0A6FED}" srcOrd="4" destOrd="0" presId="urn:microsoft.com/office/officeart/2005/8/layout/hChevron3"/>
    <dgm:cxn modelId="{43097C46-45A2-44EB-AC72-3E32F0BD81CA}" type="presParOf" srcId="{51F1A016-50E3-4E68-93D2-043BD64B230A}" destId="{5A1DE815-615A-40DD-8FC3-6D103B1203F0}" srcOrd="5" destOrd="0" presId="urn:microsoft.com/office/officeart/2005/8/layout/hChevron3"/>
    <dgm:cxn modelId="{E4F0274C-DCFE-4EF8-A146-0A910906CB15}" type="presParOf" srcId="{51F1A016-50E3-4E68-93D2-043BD64B230A}" destId="{86E4DDDA-0448-402B-9508-214282D0B7B0}" srcOrd="6" destOrd="0" presId="urn:microsoft.com/office/officeart/2005/8/layout/hChevron3"/>
    <dgm:cxn modelId="{98D12C79-9467-46D8-A808-004564EC547C}" type="presParOf" srcId="{51F1A016-50E3-4E68-93D2-043BD64B230A}" destId="{A9759980-0C2B-4810-9940-6270CD3FE6DD}" srcOrd="7" destOrd="0" presId="urn:microsoft.com/office/officeart/2005/8/layout/hChevron3"/>
    <dgm:cxn modelId="{F178BC29-B81F-4A83-8679-ABCD73A32481}" type="presParOf" srcId="{51F1A016-50E3-4E68-93D2-043BD64B230A}" destId="{4FFF2FBC-79B2-40DE-9853-6E09D73EE82D}" srcOrd="8" destOrd="0" presId="urn:microsoft.com/office/officeart/2005/8/layout/hChevron3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96C236-C20E-4D1F-AA7B-8A5A9471EA7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19AC3A04-E6D9-4641-A5FB-33113DE517FE}">
      <dgm:prSet phldrT="[Text]" custT="1"/>
      <dgm:spPr>
        <a:solidFill>
          <a:srgbClr val="0E2841"/>
        </a:solidFill>
        <a:ln>
          <a:solidFill>
            <a:schemeClr val="tx2">
              <a:lumMod val="90000"/>
              <a:lumOff val="10000"/>
            </a:schemeClr>
          </a:solidFill>
        </a:ln>
      </dgm:spPr>
      <dgm:t>
        <a:bodyPr/>
        <a:lstStyle/>
        <a:p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Aug 2025</a:t>
          </a:r>
          <a:endParaRPr lang="en-IN" sz="1100" b="1" kern="1200" dirty="0">
            <a:solidFill>
              <a:prstClr val="white"/>
            </a:solidFill>
            <a:latin typeface="Aptos" panose="020B0004020202020204"/>
            <a:ea typeface="+mn-ea"/>
            <a:cs typeface="+mn-cs"/>
          </a:endParaRPr>
        </a:p>
      </dgm:t>
    </dgm:pt>
    <dgm:pt modelId="{0DAA77E7-3565-4A37-B703-461E1B10A4A8}" type="parTrans" cxnId="{D94F53C8-03BA-4F2C-8FE7-903DC48B9DEC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776CCBB-0D0D-40F9-95A5-71E1AE12D531}" type="sibTrans" cxnId="{D94F53C8-03BA-4F2C-8FE7-903DC48B9DEC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69113E1-BCED-4B75-8B93-99CD30B82824}">
      <dgm:prSet phldrT="[Text]" custT="1"/>
      <dgm:spPr>
        <a:solidFill>
          <a:srgbClr val="0E2841"/>
        </a:solidFill>
        <a:ln>
          <a:solidFill>
            <a:schemeClr val="tx2">
              <a:lumMod val="90000"/>
              <a:lumOff val="10000"/>
            </a:schemeClr>
          </a:solidFill>
        </a:ln>
      </dgm:spPr>
      <dgm:t>
        <a:bodyPr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Sep 2025</a:t>
          </a:r>
          <a:endParaRPr lang="en-IN" sz="1100" b="1" kern="1200" dirty="0">
            <a:solidFill>
              <a:prstClr val="white"/>
            </a:solidFill>
            <a:latin typeface="Aptos" panose="020B0004020202020204"/>
            <a:ea typeface="+mn-ea"/>
            <a:cs typeface="+mn-cs"/>
          </a:endParaRPr>
        </a:p>
      </dgm:t>
    </dgm:pt>
    <dgm:pt modelId="{92D54CE2-F85D-4E65-90F6-D0931FF27257}" type="parTrans" cxnId="{FDB36148-C8DF-4CDB-A245-38F47714886A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F7C0E7D-8A95-4273-9A6F-5E40945591BB}" type="sibTrans" cxnId="{FDB36148-C8DF-4CDB-A245-38F47714886A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7DFBD1E-D0AA-4399-878B-AAA8A6CDC2A3}">
      <dgm:prSet phldrT="[Text]" custT="1"/>
      <dgm:spPr>
        <a:solidFill>
          <a:srgbClr val="0E2841"/>
        </a:solidFill>
        <a:ln>
          <a:solidFill>
            <a:schemeClr val="tx2">
              <a:lumMod val="90000"/>
              <a:lumOff val="10000"/>
            </a:schemeClr>
          </a:solidFill>
        </a:ln>
      </dgm:spPr>
      <dgm:t>
        <a:bodyPr/>
        <a:lstStyle/>
        <a:p>
          <a:r>
            <a:rPr lang="en-US" sz="1100" b="1" kern="120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Oct 2025</a:t>
          </a:r>
          <a:endParaRPr lang="en-IN" sz="1100" b="1" kern="1200">
            <a:solidFill>
              <a:prstClr val="white"/>
            </a:solidFill>
            <a:latin typeface="Aptos" panose="020B0004020202020204"/>
            <a:ea typeface="+mn-ea"/>
            <a:cs typeface="+mn-cs"/>
          </a:endParaRPr>
        </a:p>
      </dgm:t>
    </dgm:pt>
    <dgm:pt modelId="{1C09E27A-3B59-49EC-90E0-75EC6C5DB942}" type="parTrans" cxnId="{4D5EB231-7A70-4F4D-8D12-891DD83470C7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41CE65D-D877-4419-99C1-456CCCB2BA5F}" type="sibTrans" cxnId="{4D5EB231-7A70-4F4D-8D12-891DD83470C7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80CBB9D-303B-49FB-A11B-316181388F2A}">
      <dgm:prSet phldrT="[Text]" custT="1"/>
      <dgm:spPr>
        <a:solidFill>
          <a:srgbClr val="0E2841"/>
        </a:solidFill>
        <a:ln>
          <a:solidFill>
            <a:schemeClr val="tx2">
              <a:lumMod val="90000"/>
              <a:lumOff val="10000"/>
            </a:schemeClr>
          </a:solidFill>
        </a:ln>
      </dgm:spPr>
      <dgm:t>
        <a:bodyPr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Nov 2025</a:t>
          </a:r>
          <a:endParaRPr lang="en-IN" sz="1100" b="1" kern="1200" dirty="0">
            <a:solidFill>
              <a:prstClr val="white"/>
            </a:solidFill>
            <a:latin typeface="Aptos" panose="020B0004020202020204"/>
            <a:ea typeface="+mn-ea"/>
            <a:cs typeface="+mn-cs"/>
          </a:endParaRPr>
        </a:p>
      </dgm:t>
    </dgm:pt>
    <dgm:pt modelId="{5D047BF3-2EAC-4550-B3B0-AD9E512AD806}" type="parTrans" cxnId="{F0F8FE1C-F456-4E52-8747-56DF7DEF1B07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22B2F7F-5EC8-44A6-B1F5-6F437C3E8859}" type="sibTrans" cxnId="{F0F8FE1C-F456-4E52-8747-56DF7DEF1B07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755AB63-E284-4C03-B8C1-7336A720B5A2}">
      <dgm:prSet phldrT="[Text]" custT="1"/>
      <dgm:spPr>
        <a:solidFill>
          <a:srgbClr val="0E2841"/>
        </a:solidFill>
        <a:ln>
          <a:solidFill>
            <a:schemeClr val="tx2">
              <a:lumMod val="90000"/>
              <a:lumOff val="10000"/>
            </a:schemeClr>
          </a:solidFill>
        </a:ln>
      </dgm:spPr>
      <dgm:t>
        <a:bodyPr/>
        <a:lstStyle/>
        <a:p>
          <a:r>
            <a:rPr lang="en-US" sz="1100" b="1" kern="1200" dirty="0">
              <a:solidFill>
                <a:schemeClr val="bg1"/>
              </a:solidFill>
              <a:latin typeface="+mn-lt"/>
              <a:ea typeface="+mn-ea"/>
              <a:cs typeface="+mn-cs"/>
            </a:rPr>
            <a:t>Jul 2025</a:t>
          </a:r>
          <a:endParaRPr lang="en-IN" sz="1100" b="1" kern="1200" dirty="0">
            <a:solidFill>
              <a:schemeClr val="bg1"/>
            </a:solidFill>
            <a:latin typeface="+mn-lt"/>
            <a:ea typeface="+mn-ea"/>
            <a:cs typeface="+mn-cs"/>
          </a:endParaRPr>
        </a:p>
      </dgm:t>
    </dgm:pt>
    <dgm:pt modelId="{54AF3B6B-9307-4B8E-A8CC-E963881BB260}" type="sibTrans" cxnId="{0F66DD8F-66F6-495F-9B84-6E4CBABE7DCC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DDE79CF-DBB1-4676-A38B-40617A93AD8F}" type="parTrans" cxnId="{0F66DD8F-66F6-495F-9B84-6E4CBABE7DCC}">
      <dgm:prSet/>
      <dgm:spPr/>
      <dgm:t>
        <a:bodyPr/>
        <a:lstStyle/>
        <a:p>
          <a:endParaRPr lang="en-IN" sz="11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5610981-675B-422C-BD1F-13492FBC932D}">
      <dgm:prSet custT="1"/>
      <dgm:spPr>
        <a:solidFill>
          <a:srgbClr val="0E2841"/>
        </a:solidFill>
        <a:ln>
          <a:solidFill>
            <a:schemeClr val="tx2">
              <a:lumMod val="90000"/>
              <a:lumOff val="10000"/>
            </a:schemeClr>
          </a:solidFill>
        </a:ln>
      </dgm:spPr>
      <dgm:t>
        <a:bodyPr/>
        <a:lstStyle/>
        <a:p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Dec 2025</a:t>
          </a:r>
        </a:p>
      </dgm:t>
    </dgm:pt>
    <dgm:pt modelId="{5DB8FD03-C42A-4535-AF66-AD0AACFC70B7}" type="parTrans" cxnId="{910EFB04-CEE1-402B-8593-6338139295A0}">
      <dgm:prSet/>
      <dgm:spPr/>
      <dgm:t>
        <a:bodyPr/>
        <a:lstStyle/>
        <a:p>
          <a:endParaRPr lang="en-US"/>
        </a:p>
      </dgm:t>
    </dgm:pt>
    <dgm:pt modelId="{17FC32C7-6185-4DB6-AC04-EAA69FF5CF8F}" type="sibTrans" cxnId="{910EFB04-CEE1-402B-8593-6338139295A0}">
      <dgm:prSet/>
      <dgm:spPr/>
      <dgm:t>
        <a:bodyPr/>
        <a:lstStyle/>
        <a:p>
          <a:endParaRPr lang="en-US"/>
        </a:p>
      </dgm:t>
    </dgm:pt>
    <dgm:pt modelId="{6CEC34E0-A8E4-4C99-A760-BBC8D181E104}">
      <dgm:prSet custT="1"/>
      <dgm:spPr>
        <a:solidFill>
          <a:srgbClr val="0E2841"/>
        </a:solidFill>
        <a:ln>
          <a:solidFill>
            <a:schemeClr val="tx2">
              <a:lumMod val="90000"/>
              <a:lumOff val="10000"/>
            </a:schemeClr>
          </a:solidFill>
        </a:ln>
      </dgm:spPr>
      <dgm:t>
        <a:bodyPr/>
        <a:lstStyle/>
        <a:p>
          <a:r>
            <a:rPr lang="en-US" sz="1100" b="1" kern="120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Jan 2026</a:t>
          </a:r>
        </a:p>
      </dgm:t>
    </dgm:pt>
    <dgm:pt modelId="{D3D61103-304C-442D-ACE8-458FA55CFBAE}" type="parTrans" cxnId="{53446C9F-E984-452C-86D9-99B78004E7AA}">
      <dgm:prSet/>
      <dgm:spPr/>
      <dgm:t>
        <a:bodyPr/>
        <a:lstStyle/>
        <a:p>
          <a:endParaRPr lang="en-US"/>
        </a:p>
      </dgm:t>
    </dgm:pt>
    <dgm:pt modelId="{53AF2098-4203-4A30-B948-2693D37DB7C4}" type="sibTrans" cxnId="{53446C9F-E984-452C-86D9-99B78004E7AA}">
      <dgm:prSet/>
      <dgm:spPr/>
      <dgm:t>
        <a:bodyPr/>
        <a:lstStyle/>
        <a:p>
          <a:endParaRPr lang="en-US"/>
        </a:p>
      </dgm:t>
    </dgm:pt>
    <dgm:pt modelId="{D03185C9-6E3D-4F25-A9CE-8BD5874E5184}">
      <dgm:prSet custT="1"/>
      <dgm:spPr>
        <a:solidFill>
          <a:srgbClr val="0E2841"/>
        </a:solidFill>
        <a:ln w="19050" cap="flat" cmpd="sng" algn="ctr">
          <a:solidFill>
            <a:schemeClr val="tx2">
              <a:lumMod val="90000"/>
              <a:lumOff val="10000"/>
            </a:schemeClr>
          </a:solidFill>
          <a:prstDash val="solid"/>
          <a:miter lim="800000"/>
        </a:ln>
        <a:effectLst/>
      </dgm:spPr>
      <dgm:t>
        <a:bodyPr spcFirstLastPara="0" vert="horz" wrap="square" lIns="52007" tIns="34671" rIns="17336" bIns="34671" numCol="1" spcCol="1270" anchor="ctr" anchorCtr="0"/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Feb 2026</a:t>
          </a:r>
        </a:p>
      </dgm:t>
    </dgm:pt>
    <dgm:pt modelId="{EE42CE16-905F-493C-8C7C-F5902D6FE1E7}" type="parTrans" cxnId="{6F4F2AC1-091D-4DC4-B1C6-71BF298AB35C}">
      <dgm:prSet/>
      <dgm:spPr/>
      <dgm:t>
        <a:bodyPr/>
        <a:lstStyle/>
        <a:p>
          <a:endParaRPr lang="en-US"/>
        </a:p>
      </dgm:t>
    </dgm:pt>
    <dgm:pt modelId="{EBAFDB3F-89E2-4BEE-8DBC-396C8E912285}" type="sibTrans" cxnId="{6F4F2AC1-091D-4DC4-B1C6-71BF298AB35C}">
      <dgm:prSet/>
      <dgm:spPr/>
      <dgm:t>
        <a:bodyPr/>
        <a:lstStyle/>
        <a:p>
          <a:endParaRPr lang="en-US"/>
        </a:p>
      </dgm:t>
    </dgm:pt>
    <dgm:pt modelId="{047E7180-F5FA-4E07-BC74-071C0692CD17}">
      <dgm:prSet custT="1"/>
      <dgm:spPr>
        <a:solidFill>
          <a:srgbClr val="0E2841"/>
        </a:solidFill>
        <a:ln>
          <a:solidFill>
            <a:schemeClr val="tx2">
              <a:lumMod val="90000"/>
              <a:lumOff val="10000"/>
            </a:schemeClr>
          </a:solidFill>
        </a:ln>
      </dgm:spPr>
      <dgm:t>
        <a:bodyPr/>
        <a:lstStyle/>
        <a:p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Mar 2026</a:t>
          </a:r>
        </a:p>
      </dgm:t>
    </dgm:pt>
    <dgm:pt modelId="{C5A00A23-AD14-4C77-AF2D-CA45501E64AE}" type="parTrans" cxnId="{AD274865-6C92-4D63-B5B1-22BC54126A44}">
      <dgm:prSet/>
      <dgm:spPr/>
      <dgm:t>
        <a:bodyPr/>
        <a:lstStyle/>
        <a:p>
          <a:endParaRPr lang="en-US"/>
        </a:p>
      </dgm:t>
    </dgm:pt>
    <dgm:pt modelId="{814A40CB-84A0-4D85-9333-0E62C4FA0F70}" type="sibTrans" cxnId="{AD274865-6C92-4D63-B5B1-22BC54126A44}">
      <dgm:prSet/>
      <dgm:spPr/>
      <dgm:t>
        <a:bodyPr/>
        <a:lstStyle/>
        <a:p>
          <a:endParaRPr lang="en-US"/>
        </a:p>
      </dgm:t>
    </dgm:pt>
    <dgm:pt modelId="{D4C877E0-C8B1-48C3-9A90-276AA857CD4B}">
      <dgm:prSet phldrT="[Text]" custT="1"/>
      <dgm:spPr>
        <a:solidFill>
          <a:srgbClr val="0E2841"/>
        </a:solidFill>
        <a:ln>
          <a:solidFill>
            <a:schemeClr val="tx2">
              <a:lumMod val="90000"/>
              <a:lumOff val="10000"/>
            </a:schemeClr>
          </a:solidFill>
        </a:ln>
      </dgm:spPr>
      <dgm:t>
        <a:bodyPr/>
        <a:lstStyle/>
        <a:p>
          <a:r>
            <a:rPr lang="en-IN" sz="1100" b="1" kern="1200" dirty="0">
              <a:solidFill>
                <a:schemeClr val="bg1"/>
              </a:solidFill>
              <a:latin typeface="+mn-lt"/>
              <a:ea typeface="+mn-ea"/>
              <a:cs typeface="+mn-cs"/>
            </a:rPr>
            <a:t>Jun 2025</a:t>
          </a:r>
        </a:p>
      </dgm:t>
    </dgm:pt>
    <dgm:pt modelId="{0894C346-FC0A-4C92-8FD2-0D36FD61E8AC}" type="parTrans" cxnId="{6701DF79-D254-436A-BC6C-608303C89FDC}">
      <dgm:prSet/>
      <dgm:spPr/>
      <dgm:t>
        <a:bodyPr/>
        <a:lstStyle/>
        <a:p>
          <a:endParaRPr lang="en-IN"/>
        </a:p>
      </dgm:t>
    </dgm:pt>
    <dgm:pt modelId="{59E6ACEA-01F4-4D98-93B8-4378F7523ADC}" type="sibTrans" cxnId="{6701DF79-D254-436A-BC6C-608303C89FDC}">
      <dgm:prSet/>
      <dgm:spPr/>
      <dgm:t>
        <a:bodyPr/>
        <a:lstStyle/>
        <a:p>
          <a:endParaRPr lang="en-IN"/>
        </a:p>
      </dgm:t>
    </dgm:pt>
    <dgm:pt modelId="{51F1A016-50E3-4E68-93D2-043BD64B230A}" type="pres">
      <dgm:prSet presAssocID="{9196C236-C20E-4D1F-AA7B-8A5A9471EA70}" presName="Name0" presStyleCnt="0">
        <dgm:presLayoutVars>
          <dgm:dir/>
          <dgm:resizeHandles val="exact"/>
        </dgm:presLayoutVars>
      </dgm:prSet>
      <dgm:spPr/>
    </dgm:pt>
    <dgm:pt modelId="{041CB776-D846-4DC2-BB19-4833E8F81822}" type="pres">
      <dgm:prSet presAssocID="{D4C877E0-C8B1-48C3-9A90-276AA857CD4B}" presName="parTxOnly" presStyleLbl="node1" presStyleIdx="0" presStyleCnt="10">
        <dgm:presLayoutVars>
          <dgm:bulletEnabled val="1"/>
        </dgm:presLayoutVars>
      </dgm:prSet>
      <dgm:spPr/>
    </dgm:pt>
    <dgm:pt modelId="{B380BEF9-DA28-482D-AA42-55CDF8A07748}" type="pres">
      <dgm:prSet presAssocID="{59E6ACEA-01F4-4D98-93B8-4378F7523ADC}" presName="parSpace" presStyleCnt="0"/>
      <dgm:spPr/>
    </dgm:pt>
    <dgm:pt modelId="{29A7CCDF-81FB-40AB-A6DF-6CC451D5A1A2}" type="pres">
      <dgm:prSet presAssocID="{6755AB63-E284-4C03-B8C1-7336A720B5A2}" presName="parTxOnly" presStyleLbl="node1" presStyleIdx="1" presStyleCnt="10" custLinFactNeighborY="2303">
        <dgm:presLayoutVars>
          <dgm:bulletEnabled val="1"/>
        </dgm:presLayoutVars>
      </dgm:prSet>
      <dgm:spPr/>
    </dgm:pt>
    <dgm:pt modelId="{A33F2364-5484-4B3C-BA63-01200C5C96EB}" type="pres">
      <dgm:prSet presAssocID="{54AF3B6B-9307-4B8E-A8CC-E963881BB260}" presName="parSpace" presStyleCnt="0"/>
      <dgm:spPr/>
    </dgm:pt>
    <dgm:pt modelId="{5F72DB64-F7BA-499C-85F7-D85A94CF6B56}" type="pres">
      <dgm:prSet presAssocID="{19AC3A04-E6D9-4641-A5FB-33113DE517FE}" presName="parTxOnly" presStyleLbl="node1" presStyleIdx="2" presStyleCnt="10" custScaleX="92783" custLinFactNeighborY="2303">
        <dgm:presLayoutVars>
          <dgm:bulletEnabled val="1"/>
        </dgm:presLayoutVars>
      </dgm:prSet>
      <dgm:spPr/>
    </dgm:pt>
    <dgm:pt modelId="{F6CC3EBA-266F-4EA7-89B1-82DF6281A471}" type="pres">
      <dgm:prSet presAssocID="{F776CCBB-0D0D-40F9-95A5-71E1AE12D531}" presName="parSpace" presStyleCnt="0"/>
      <dgm:spPr/>
    </dgm:pt>
    <dgm:pt modelId="{32C41A2F-790C-484B-858C-8E98EE0A6FED}" type="pres">
      <dgm:prSet presAssocID="{869113E1-BCED-4B75-8B93-99CD30B82824}" presName="parTxOnly" presStyleLbl="node1" presStyleIdx="3" presStyleCnt="10">
        <dgm:presLayoutVars>
          <dgm:bulletEnabled val="1"/>
        </dgm:presLayoutVars>
      </dgm:prSet>
      <dgm:spPr/>
    </dgm:pt>
    <dgm:pt modelId="{5A1DE815-615A-40DD-8FC3-6D103B1203F0}" type="pres">
      <dgm:prSet presAssocID="{1F7C0E7D-8A95-4273-9A6F-5E40945591BB}" presName="parSpace" presStyleCnt="0"/>
      <dgm:spPr/>
    </dgm:pt>
    <dgm:pt modelId="{86E4DDDA-0448-402B-9508-214282D0B7B0}" type="pres">
      <dgm:prSet presAssocID="{E7DFBD1E-D0AA-4399-878B-AAA8A6CDC2A3}" presName="parTxOnly" presStyleLbl="node1" presStyleIdx="4" presStyleCnt="10">
        <dgm:presLayoutVars>
          <dgm:bulletEnabled val="1"/>
        </dgm:presLayoutVars>
      </dgm:prSet>
      <dgm:spPr/>
    </dgm:pt>
    <dgm:pt modelId="{A9759980-0C2B-4810-9940-6270CD3FE6DD}" type="pres">
      <dgm:prSet presAssocID="{141CE65D-D877-4419-99C1-456CCCB2BA5F}" presName="parSpace" presStyleCnt="0"/>
      <dgm:spPr/>
    </dgm:pt>
    <dgm:pt modelId="{4FFF2FBC-79B2-40DE-9853-6E09D73EE82D}" type="pres">
      <dgm:prSet presAssocID="{980CBB9D-303B-49FB-A11B-316181388F2A}" presName="parTxOnly" presStyleLbl="node1" presStyleIdx="5" presStyleCnt="10" custScaleX="88544" custLinFactNeighborX="2450">
        <dgm:presLayoutVars>
          <dgm:bulletEnabled val="1"/>
        </dgm:presLayoutVars>
      </dgm:prSet>
      <dgm:spPr/>
    </dgm:pt>
    <dgm:pt modelId="{A0CD9182-DBEF-44F1-9A8D-FACF5040D070}" type="pres">
      <dgm:prSet presAssocID="{722B2F7F-5EC8-44A6-B1F5-6F437C3E8859}" presName="parSpace" presStyleCnt="0"/>
      <dgm:spPr/>
    </dgm:pt>
    <dgm:pt modelId="{4DF75652-8917-49A6-A26B-8CC54E027A14}" type="pres">
      <dgm:prSet presAssocID="{B5610981-675B-422C-BD1F-13492FBC932D}" presName="parTxOnly" presStyleLbl="node1" presStyleIdx="6" presStyleCnt="10">
        <dgm:presLayoutVars>
          <dgm:bulletEnabled val="1"/>
        </dgm:presLayoutVars>
      </dgm:prSet>
      <dgm:spPr/>
    </dgm:pt>
    <dgm:pt modelId="{1F878E3E-DEE4-4668-BE64-36C2E209F659}" type="pres">
      <dgm:prSet presAssocID="{17FC32C7-6185-4DB6-AC04-EAA69FF5CF8F}" presName="parSpace" presStyleCnt="0"/>
      <dgm:spPr/>
    </dgm:pt>
    <dgm:pt modelId="{F33CD49B-613A-4C24-91CF-04B8ACFC9BD7}" type="pres">
      <dgm:prSet presAssocID="{6CEC34E0-A8E4-4C99-A760-BBC8D181E104}" presName="parTxOnly" presStyleLbl="node1" presStyleIdx="7" presStyleCnt="10">
        <dgm:presLayoutVars>
          <dgm:bulletEnabled val="1"/>
        </dgm:presLayoutVars>
      </dgm:prSet>
      <dgm:spPr/>
    </dgm:pt>
    <dgm:pt modelId="{A9762B1E-21BF-4F5E-8C9C-0C86D314C8D5}" type="pres">
      <dgm:prSet presAssocID="{53AF2098-4203-4A30-B948-2693D37DB7C4}" presName="parSpace" presStyleCnt="0"/>
      <dgm:spPr/>
    </dgm:pt>
    <dgm:pt modelId="{9B167E9B-4467-46B1-A5AD-2C3D39522EC9}" type="pres">
      <dgm:prSet presAssocID="{D03185C9-6E3D-4F25-A9CE-8BD5874E5184}" presName="parTxOnly" presStyleLbl="node1" presStyleIdx="8" presStyleCnt="10">
        <dgm:presLayoutVars>
          <dgm:bulletEnabled val="1"/>
        </dgm:presLayoutVars>
      </dgm:prSet>
      <dgm:spPr>
        <a:xfrm>
          <a:off x="7750344" y="0"/>
          <a:ext cx="1430832" cy="262090"/>
        </a:xfrm>
        <a:prstGeom prst="chevron">
          <a:avLst/>
        </a:prstGeom>
      </dgm:spPr>
    </dgm:pt>
    <dgm:pt modelId="{7D6A5B07-0172-4E89-876B-43578A68D96F}" type="pres">
      <dgm:prSet presAssocID="{EBAFDB3F-89E2-4BEE-8DBC-396C8E912285}" presName="parSpace" presStyleCnt="0"/>
      <dgm:spPr/>
    </dgm:pt>
    <dgm:pt modelId="{87D9D371-D597-4FCF-BCD4-7111D9FC6B63}" type="pres">
      <dgm:prSet presAssocID="{047E7180-F5FA-4E07-BC74-071C0692CD17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910EFB04-CEE1-402B-8593-6338139295A0}" srcId="{9196C236-C20E-4D1F-AA7B-8A5A9471EA70}" destId="{B5610981-675B-422C-BD1F-13492FBC932D}" srcOrd="6" destOrd="0" parTransId="{5DB8FD03-C42A-4535-AF66-AD0AACFC70B7}" sibTransId="{17FC32C7-6185-4DB6-AC04-EAA69FF5CF8F}"/>
    <dgm:cxn modelId="{528F770A-6E48-4BB6-9283-74FBD31D4354}" type="presOf" srcId="{19AC3A04-E6D9-4641-A5FB-33113DE517FE}" destId="{5F72DB64-F7BA-499C-85F7-D85A94CF6B56}" srcOrd="0" destOrd="0" presId="urn:microsoft.com/office/officeart/2005/8/layout/hChevron3"/>
    <dgm:cxn modelId="{F0F8FE1C-F456-4E52-8747-56DF7DEF1B07}" srcId="{9196C236-C20E-4D1F-AA7B-8A5A9471EA70}" destId="{980CBB9D-303B-49FB-A11B-316181388F2A}" srcOrd="5" destOrd="0" parTransId="{5D047BF3-2EAC-4550-B3B0-AD9E512AD806}" sibTransId="{722B2F7F-5EC8-44A6-B1F5-6F437C3E8859}"/>
    <dgm:cxn modelId="{C6D9DC27-AAC2-425B-AAFA-BDF42BD1A225}" type="presOf" srcId="{D03185C9-6E3D-4F25-A9CE-8BD5874E5184}" destId="{9B167E9B-4467-46B1-A5AD-2C3D39522EC9}" srcOrd="0" destOrd="0" presId="urn:microsoft.com/office/officeart/2005/8/layout/hChevron3"/>
    <dgm:cxn modelId="{4D5EB231-7A70-4F4D-8D12-891DD83470C7}" srcId="{9196C236-C20E-4D1F-AA7B-8A5A9471EA70}" destId="{E7DFBD1E-D0AA-4399-878B-AAA8A6CDC2A3}" srcOrd="4" destOrd="0" parTransId="{1C09E27A-3B59-49EC-90E0-75EC6C5DB942}" sibTransId="{141CE65D-D877-4419-99C1-456CCCB2BA5F}"/>
    <dgm:cxn modelId="{AD274865-6C92-4D63-B5B1-22BC54126A44}" srcId="{9196C236-C20E-4D1F-AA7B-8A5A9471EA70}" destId="{047E7180-F5FA-4E07-BC74-071C0692CD17}" srcOrd="9" destOrd="0" parTransId="{C5A00A23-AD14-4C77-AF2D-CA45501E64AE}" sibTransId="{814A40CB-84A0-4D85-9333-0E62C4FA0F70}"/>
    <dgm:cxn modelId="{FDB36148-C8DF-4CDB-A245-38F47714886A}" srcId="{9196C236-C20E-4D1F-AA7B-8A5A9471EA70}" destId="{869113E1-BCED-4B75-8B93-99CD30B82824}" srcOrd="3" destOrd="0" parTransId="{92D54CE2-F85D-4E65-90F6-D0931FF27257}" sibTransId="{1F7C0E7D-8A95-4273-9A6F-5E40945591BB}"/>
    <dgm:cxn modelId="{CD1E0A6D-18C3-4A86-9938-239493D1C582}" type="presOf" srcId="{6CEC34E0-A8E4-4C99-A760-BBC8D181E104}" destId="{F33CD49B-613A-4C24-91CF-04B8ACFC9BD7}" srcOrd="0" destOrd="0" presId="urn:microsoft.com/office/officeart/2005/8/layout/hChevron3"/>
    <dgm:cxn modelId="{80F9D96F-A419-4DAB-AD50-F5442B8BA2F4}" type="presOf" srcId="{869113E1-BCED-4B75-8B93-99CD30B82824}" destId="{32C41A2F-790C-484B-858C-8E98EE0A6FED}" srcOrd="0" destOrd="0" presId="urn:microsoft.com/office/officeart/2005/8/layout/hChevron3"/>
    <dgm:cxn modelId="{6701DF79-D254-436A-BC6C-608303C89FDC}" srcId="{9196C236-C20E-4D1F-AA7B-8A5A9471EA70}" destId="{D4C877E0-C8B1-48C3-9A90-276AA857CD4B}" srcOrd="0" destOrd="0" parTransId="{0894C346-FC0A-4C92-8FD2-0D36FD61E8AC}" sibTransId="{59E6ACEA-01F4-4D98-93B8-4378F7523ADC}"/>
    <dgm:cxn modelId="{83A52C87-0C82-4583-A1A3-FA8313BEF932}" type="presOf" srcId="{D4C877E0-C8B1-48C3-9A90-276AA857CD4B}" destId="{041CB776-D846-4DC2-BB19-4833E8F81822}" srcOrd="0" destOrd="0" presId="urn:microsoft.com/office/officeart/2005/8/layout/hChevron3"/>
    <dgm:cxn modelId="{0F66DD8F-66F6-495F-9B84-6E4CBABE7DCC}" srcId="{9196C236-C20E-4D1F-AA7B-8A5A9471EA70}" destId="{6755AB63-E284-4C03-B8C1-7336A720B5A2}" srcOrd="1" destOrd="0" parTransId="{ADDE79CF-DBB1-4676-A38B-40617A93AD8F}" sibTransId="{54AF3B6B-9307-4B8E-A8CC-E963881BB260}"/>
    <dgm:cxn modelId="{53446C9F-E984-452C-86D9-99B78004E7AA}" srcId="{9196C236-C20E-4D1F-AA7B-8A5A9471EA70}" destId="{6CEC34E0-A8E4-4C99-A760-BBC8D181E104}" srcOrd="7" destOrd="0" parTransId="{D3D61103-304C-442D-ACE8-458FA55CFBAE}" sibTransId="{53AF2098-4203-4A30-B948-2693D37DB7C4}"/>
    <dgm:cxn modelId="{B1E7C4A0-ACD2-41A5-BC5A-0E6F44AEDC05}" type="presOf" srcId="{E7DFBD1E-D0AA-4399-878B-AAA8A6CDC2A3}" destId="{86E4DDDA-0448-402B-9508-214282D0B7B0}" srcOrd="0" destOrd="0" presId="urn:microsoft.com/office/officeart/2005/8/layout/hChevron3"/>
    <dgm:cxn modelId="{7268AEBC-F7A7-40CF-978B-BF3E58CA699E}" type="presOf" srcId="{9196C236-C20E-4D1F-AA7B-8A5A9471EA70}" destId="{51F1A016-50E3-4E68-93D2-043BD64B230A}" srcOrd="0" destOrd="0" presId="urn:microsoft.com/office/officeart/2005/8/layout/hChevron3"/>
    <dgm:cxn modelId="{07ADEFBF-D189-4A6E-82D0-C5530B9A4D32}" type="presOf" srcId="{047E7180-F5FA-4E07-BC74-071C0692CD17}" destId="{87D9D371-D597-4FCF-BCD4-7111D9FC6B63}" srcOrd="0" destOrd="0" presId="urn:microsoft.com/office/officeart/2005/8/layout/hChevron3"/>
    <dgm:cxn modelId="{6F4F2AC1-091D-4DC4-B1C6-71BF298AB35C}" srcId="{9196C236-C20E-4D1F-AA7B-8A5A9471EA70}" destId="{D03185C9-6E3D-4F25-A9CE-8BD5874E5184}" srcOrd="8" destOrd="0" parTransId="{EE42CE16-905F-493C-8C7C-F5902D6FE1E7}" sibTransId="{EBAFDB3F-89E2-4BEE-8DBC-396C8E912285}"/>
    <dgm:cxn modelId="{D94F53C8-03BA-4F2C-8FE7-903DC48B9DEC}" srcId="{9196C236-C20E-4D1F-AA7B-8A5A9471EA70}" destId="{19AC3A04-E6D9-4641-A5FB-33113DE517FE}" srcOrd="2" destOrd="0" parTransId="{0DAA77E7-3565-4A37-B703-461E1B10A4A8}" sibTransId="{F776CCBB-0D0D-40F9-95A5-71E1AE12D531}"/>
    <dgm:cxn modelId="{24BE5FCE-46B8-44D8-A8B4-1E6BACCF169F}" type="presOf" srcId="{980CBB9D-303B-49FB-A11B-316181388F2A}" destId="{4FFF2FBC-79B2-40DE-9853-6E09D73EE82D}" srcOrd="0" destOrd="0" presId="urn:microsoft.com/office/officeart/2005/8/layout/hChevron3"/>
    <dgm:cxn modelId="{41FF70EC-ECA1-4258-A886-18BD0536B0DC}" type="presOf" srcId="{6755AB63-E284-4C03-B8C1-7336A720B5A2}" destId="{29A7CCDF-81FB-40AB-A6DF-6CC451D5A1A2}" srcOrd="0" destOrd="0" presId="urn:microsoft.com/office/officeart/2005/8/layout/hChevron3"/>
    <dgm:cxn modelId="{54EF2EF3-5A40-49AF-9F87-2F2508FC6C6C}" type="presOf" srcId="{B5610981-675B-422C-BD1F-13492FBC932D}" destId="{4DF75652-8917-49A6-A26B-8CC54E027A14}" srcOrd="0" destOrd="0" presId="urn:microsoft.com/office/officeart/2005/8/layout/hChevron3"/>
    <dgm:cxn modelId="{FEA946B2-AF49-4030-9040-860404F26A05}" type="presParOf" srcId="{51F1A016-50E3-4E68-93D2-043BD64B230A}" destId="{041CB776-D846-4DC2-BB19-4833E8F81822}" srcOrd="0" destOrd="0" presId="urn:microsoft.com/office/officeart/2005/8/layout/hChevron3"/>
    <dgm:cxn modelId="{A2A1F929-A14D-4E2A-A105-D1C5DFC88489}" type="presParOf" srcId="{51F1A016-50E3-4E68-93D2-043BD64B230A}" destId="{B380BEF9-DA28-482D-AA42-55CDF8A07748}" srcOrd="1" destOrd="0" presId="urn:microsoft.com/office/officeart/2005/8/layout/hChevron3"/>
    <dgm:cxn modelId="{0E80DB9B-3BF1-42B6-BF5B-3AE459342327}" type="presParOf" srcId="{51F1A016-50E3-4E68-93D2-043BD64B230A}" destId="{29A7CCDF-81FB-40AB-A6DF-6CC451D5A1A2}" srcOrd="2" destOrd="0" presId="urn:microsoft.com/office/officeart/2005/8/layout/hChevron3"/>
    <dgm:cxn modelId="{0409307B-BE1C-45ED-BDBD-3DDA337E6EC8}" type="presParOf" srcId="{51F1A016-50E3-4E68-93D2-043BD64B230A}" destId="{A33F2364-5484-4B3C-BA63-01200C5C96EB}" srcOrd="3" destOrd="0" presId="urn:microsoft.com/office/officeart/2005/8/layout/hChevron3"/>
    <dgm:cxn modelId="{B5B9700C-C70B-4FC2-A12E-70B07E8D0B3C}" type="presParOf" srcId="{51F1A016-50E3-4E68-93D2-043BD64B230A}" destId="{5F72DB64-F7BA-499C-85F7-D85A94CF6B56}" srcOrd="4" destOrd="0" presId="urn:microsoft.com/office/officeart/2005/8/layout/hChevron3"/>
    <dgm:cxn modelId="{F933070D-360D-4633-A953-660BBF44CC07}" type="presParOf" srcId="{51F1A016-50E3-4E68-93D2-043BD64B230A}" destId="{F6CC3EBA-266F-4EA7-89B1-82DF6281A471}" srcOrd="5" destOrd="0" presId="urn:microsoft.com/office/officeart/2005/8/layout/hChevron3"/>
    <dgm:cxn modelId="{9754B742-2D81-4FA5-9305-48733641B738}" type="presParOf" srcId="{51F1A016-50E3-4E68-93D2-043BD64B230A}" destId="{32C41A2F-790C-484B-858C-8E98EE0A6FED}" srcOrd="6" destOrd="0" presId="urn:microsoft.com/office/officeart/2005/8/layout/hChevron3"/>
    <dgm:cxn modelId="{43097C46-45A2-44EB-AC72-3E32F0BD81CA}" type="presParOf" srcId="{51F1A016-50E3-4E68-93D2-043BD64B230A}" destId="{5A1DE815-615A-40DD-8FC3-6D103B1203F0}" srcOrd="7" destOrd="0" presId="urn:microsoft.com/office/officeart/2005/8/layout/hChevron3"/>
    <dgm:cxn modelId="{E4F0274C-DCFE-4EF8-A146-0A910906CB15}" type="presParOf" srcId="{51F1A016-50E3-4E68-93D2-043BD64B230A}" destId="{86E4DDDA-0448-402B-9508-214282D0B7B0}" srcOrd="8" destOrd="0" presId="urn:microsoft.com/office/officeart/2005/8/layout/hChevron3"/>
    <dgm:cxn modelId="{98D12C79-9467-46D8-A808-004564EC547C}" type="presParOf" srcId="{51F1A016-50E3-4E68-93D2-043BD64B230A}" destId="{A9759980-0C2B-4810-9940-6270CD3FE6DD}" srcOrd="9" destOrd="0" presId="urn:microsoft.com/office/officeart/2005/8/layout/hChevron3"/>
    <dgm:cxn modelId="{F178BC29-B81F-4A83-8679-ABCD73A32481}" type="presParOf" srcId="{51F1A016-50E3-4E68-93D2-043BD64B230A}" destId="{4FFF2FBC-79B2-40DE-9853-6E09D73EE82D}" srcOrd="10" destOrd="0" presId="urn:microsoft.com/office/officeart/2005/8/layout/hChevron3"/>
    <dgm:cxn modelId="{E8CDBBAA-42CC-4930-8C9B-960C54D7AD18}" type="presParOf" srcId="{51F1A016-50E3-4E68-93D2-043BD64B230A}" destId="{A0CD9182-DBEF-44F1-9A8D-FACF5040D070}" srcOrd="11" destOrd="0" presId="urn:microsoft.com/office/officeart/2005/8/layout/hChevron3"/>
    <dgm:cxn modelId="{F47BE378-D7B9-4D05-B32B-3E821570E114}" type="presParOf" srcId="{51F1A016-50E3-4E68-93D2-043BD64B230A}" destId="{4DF75652-8917-49A6-A26B-8CC54E027A14}" srcOrd="12" destOrd="0" presId="urn:microsoft.com/office/officeart/2005/8/layout/hChevron3"/>
    <dgm:cxn modelId="{2C6148C4-5306-4932-89F0-10916D6D9B13}" type="presParOf" srcId="{51F1A016-50E3-4E68-93D2-043BD64B230A}" destId="{1F878E3E-DEE4-4668-BE64-36C2E209F659}" srcOrd="13" destOrd="0" presId="urn:microsoft.com/office/officeart/2005/8/layout/hChevron3"/>
    <dgm:cxn modelId="{6591E367-ACA5-4743-95B5-B654313F04F3}" type="presParOf" srcId="{51F1A016-50E3-4E68-93D2-043BD64B230A}" destId="{F33CD49B-613A-4C24-91CF-04B8ACFC9BD7}" srcOrd="14" destOrd="0" presId="urn:microsoft.com/office/officeart/2005/8/layout/hChevron3"/>
    <dgm:cxn modelId="{C36BE9CF-FB47-40B1-AFCD-B1563B717F49}" type="presParOf" srcId="{51F1A016-50E3-4E68-93D2-043BD64B230A}" destId="{A9762B1E-21BF-4F5E-8C9C-0C86D314C8D5}" srcOrd="15" destOrd="0" presId="urn:microsoft.com/office/officeart/2005/8/layout/hChevron3"/>
    <dgm:cxn modelId="{4B00E548-2C7C-45E4-B488-D46E6D5F3213}" type="presParOf" srcId="{51F1A016-50E3-4E68-93D2-043BD64B230A}" destId="{9B167E9B-4467-46B1-A5AD-2C3D39522EC9}" srcOrd="16" destOrd="0" presId="urn:microsoft.com/office/officeart/2005/8/layout/hChevron3"/>
    <dgm:cxn modelId="{884E70D9-878E-4640-96FE-D6B43B588073}" type="presParOf" srcId="{51F1A016-50E3-4E68-93D2-043BD64B230A}" destId="{7D6A5B07-0172-4E89-876B-43578A68D96F}" srcOrd="17" destOrd="0" presId="urn:microsoft.com/office/officeart/2005/8/layout/hChevron3"/>
    <dgm:cxn modelId="{D573D637-AC67-44E7-B22D-EBE061B8C2F4}" type="presParOf" srcId="{51F1A016-50E3-4E68-93D2-043BD64B230A}" destId="{87D9D371-D597-4FCF-BCD4-7111D9FC6B63}" srcOrd="18" destOrd="0" presId="urn:microsoft.com/office/officeart/2005/8/layout/hChevron3"/>
  </dgm:cxnLst>
  <dgm:bg>
    <a:noFill/>
  </dgm:bg>
  <dgm:whole>
    <a:ln>
      <a:solidFill>
        <a:schemeClr val="tx2">
          <a:lumMod val="90000"/>
          <a:lumOff val="10000"/>
        </a:schemeClr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A7CCDF-81FB-40AB-A6DF-6CC451D5A1A2}">
      <dsp:nvSpPr>
        <dsp:cNvPr id="0" name=""/>
        <dsp:cNvSpPr/>
      </dsp:nvSpPr>
      <dsp:spPr>
        <a:xfrm>
          <a:off x="1752" y="0"/>
          <a:ext cx="1450843" cy="262090"/>
        </a:xfrm>
        <a:prstGeom prst="homePlate">
          <a:avLst/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74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bg1"/>
              </a:solidFill>
              <a:latin typeface="+mn-lt"/>
              <a:ea typeface="+mn-ea"/>
              <a:cs typeface="+mn-cs"/>
            </a:rPr>
            <a:t>FY25 Q3</a:t>
          </a:r>
          <a:endParaRPr lang="en-IN" sz="1100" b="1" kern="1200" dirty="0">
            <a:solidFill>
              <a:schemeClr val="bg1"/>
            </a:solidFill>
            <a:latin typeface="+mn-lt"/>
            <a:ea typeface="+mn-ea"/>
            <a:cs typeface="+mn-cs"/>
          </a:endParaRPr>
        </a:p>
      </dsp:txBody>
      <dsp:txXfrm>
        <a:off x="1752" y="0"/>
        <a:ext cx="1385321" cy="262090"/>
      </dsp:txXfrm>
    </dsp:sp>
    <dsp:sp modelId="{5F72DB64-F7BA-499C-85F7-D85A94CF6B56}">
      <dsp:nvSpPr>
        <dsp:cNvPr id="0" name=""/>
        <dsp:cNvSpPr/>
      </dsp:nvSpPr>
      <dsp:spPr>
        <a:xfrm>
          <a:off x="1162427" y="0"/>
          <a:ext cx="1346136" cy="262090"/>
        </a:xfrm>
        <a:prstGeom prst="chevron">
          <a:avLst/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FY25 Q4</a:t>
          </a:r>
          <a:endParaRPr lang="en-IN" sz="1100" b="1" kern="1200" dirty="0">
            <a:solidFill>
              <a:prstClr val="white"/>
            </a:solidFill>
            <a:latin typeface="Aptos" panose="020B0004020202020204"/>
            <a:ea typeface="+mn-ea"/>
            <a:cs typeface="+mn-cs"/>
          </a:endParaRPr>
        </a:p>
      </dsp:txBody>
      <dsp:txXfrm>
        <a:off x="1293472" y="0"/>
        <a:ext cx="1084046" cy="262090"/>
      </dsp:txXfrm>
    </dsp:sp>
    <dsp:sp modelId="{32C41A2F-790C-484B-858C-8E98EE0A6FED}">
      <dsp:nvSpPr>
        <dsp:cNvPr id="0" name=""/>
        <dsp:cNvSpPr/>
      </dsp:nvSpPr>
      <dsp:spPr>
        <a:xfrm>
          <a:off x="2218395" y="0"/>
          <a:ext cx="1450843" cy="262090"/>
        </a:xfrm>
        <a:prstGeom prst="chevron">
          <a:avLst/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FY26 Q1</a:t>
          </a:r>
          <a:endParaRPr lang="en-IN" sz="1100" b="1" kern="1200" dirty="0">
            <a:solidFill>
              <a:prstClr val="white"/>
            </a:solidFill>
            <a:latin typeface="Aptos" panose="020B0004020202020204"/>
            <a:ea typeface="+mn-ea"/>
            <a:cs typeface="+mn-cs"/>
          </a:endParaRPr>
        </a:p>
      </dsp:txBody>
      <dsp:txXfrm>
        <a:off x="2349440" y="0"/>
        <a:ext cx="1188753" cy="262090"/>
      </dsp:txXfrm>
    </dsp:sp>
    <dsp:sp modelId="{86E4DDDA-0448-402B-9508-214282D0B7B0}">
      <dsp:nvSpPr>
        <dsp:cNvPr id="0" name=""/>
        <dsp:cNvSpPr/>
      </dsp:nvSpPr>
      <dsp:spPr>
        <a:xfrm>
          <a:off x="3379070" y="0"/>
          <a:ext cx="1450843" cy="262090"/>
        </a:xfrm>
        <a:prstGeom prst="chevron">
          <a:avLst/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FY26 Q2</a:t>
          </a:r>
          <a:endParaRPr lang="en-IN" sz="1100" b="1" kern="1200" dirty="0">
            <a:solidFill>
              <a:prstClr val="white"/>
            </a:solidFill>
            <a:latin typeface="Aptos" panose="020B0004020202020204"/>
            <a:ea typeface="+mn-ea"/>
            <a:cs typeface="+mn-cs"/>
          </a:endParaRPr>
        </a:p>
      </dsp:txBody>
      <dsp:txXfrm>
        <a:off x="3510115" y="0"/>
        <a:ext cx="1188753" cy="262090"/>
      </dsp:txXfrm>
    </dsp:sp>
    <dsp:sp modelId="{4FFF2FBC-79B2-40DE-9853-6E09D73EE82D}">
      <dsp:nvSpPr>
        <dsp:cNvPr id="0" name=""/>
        <dsp:cNvSpPr/>
      </dsp:nvSpPr>
      <dsp:spPr>
        <a:xfrm>
          <a:off x="4541498" y="0"/>
          <a:ext cx="1284635" cy="262090"/>
        </a:xfrm>
        <a:prstGeom prst="chevron">
          <a:avLst/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FY26 Q3</a:t>
          </a:r>
          <a:endParaRPr lang="en-IN" sz="1100" b="1" kern="1200" dirty="0">
            <a:solidFill>
              <a:prstClr val="white"/>
            </a:solidFill>
            <a:latin typeface="Aptos" panose="020B0004020202020204"/>
            <a:ea typeface="+mn-ea"/>
            <a:cs typeface="+mn-cs"/>
          </a:endParaRPr>
        </a:p>
      </dsp:txBody>
      <dsp:txXfrm>
        <a:off x="4672543" y="0"/>
        <a:ext cx="1022545" cy="2620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1CB776-D846-4DC2-BB19-4833E8F81822}">
      <dsp:nvSpPr>
        <dsp:cNvPr id="0" name=""/>
        <dsp:cNvSpPr/>
      </dsp:nvSpPr>
      <dsp:spPr>
        <a:xfrm>
          <a:off x="1371" y="0"/>
          <a:ext cx="1149994" cy="297445"/>
        </a:xfrm>
        <a:prstGeom prst="homePlate">
          <a:avLst/>
        </a:prstGeom>
        <a:solidFill>
          <a:srgbClr val="0E2841"/>
        </a:solidFill>
        <a:ln w="19050" cap="flat" cmpd="sng" algn="ctr">
          <a:solidFill>
            <a:schemeClr val="tx2">
              <a:lumMod val="90000"/>
              <a:lumOff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74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solidFill>
                <a:schemeClr val="bg1"/>
              </a:solidFill>
              <a:latin typeface="+mn-lt"/>
              <a:ea typeface="+mn-ea"/>
              <a:cs typeface="+mn-cs"/>
            </a:rPr>
            <a:t>Jun 2025</a:t>
          </a:r>
        </a:p>
      </dsp:txBody>
      <dsp:txXfrm>
        <a:off x="1371" y="0"/>
        <a:ext cx="1075633" cy="297445"/>
      </dsp:txXfrm>
    </dsp:sp>
    <dsp:sp modelId="{29A7CCDF-81FB-40AB-A6DF-6CC451D5A1A2}">
      <dsp:nvSpPr>
        <dsp:cNvPr id="0" name=""/>
        <dsp:cNvSpPr/>
      </dsp:nvSpPr>
      <dsp:spPr>
        <a:xfrm>
          <a:off x="921367" y="0"/>
          <a:ext cx="1149994" cy="297445"/>
        </a:xfrm>
        <a:prstGeom prst="chevron">
          <a:avLst/>
        </a:prstGeom>
        <a:solidFill>
          <a:srgbClr val="0E2841"/>
        </a:solidFill>
        <a:ln w="19050" cap="flat" cmpd="sng" algn="ctr">
          <a:solidFill>
            <a:schemeClr val="tx2">
              <a:lumMod val="90000"/>
              <a:lumOff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bg1"/>
              </a:solidFill>
              <a:latin typeface="+mn-lt"/>
              <a:ea typeface="+mn-ea"/>
              <a:cs typeface="+mn-cs"/>
            </a:rPr>
            <a:t>Jul 2025</a:t>
          </a:r>
          <a:endParaRPr lang="en-IN" sz="1100" b="1" kern="1200" dirty="0">
            <a:solidFill>
              <a:schemeClr val="bg1"/>
            </a:solidFill>
            <a:latin typeface="+mn-lt"/>
            <a:ea typeface="+mn-ea"/>
            <a:cs typeface="+mn-cs"/>
          </a:endParaRPr>
        </a:p>
      </dsp:txBody>
      <dsp:txXfrm>
        <a:off x="1070090" y="0"/>
        <a:ext cx="852549" cy="297445"/>
      </dsp:txXfrm>
    </dsp:sp>
    <dsp:sp modelId="{5F72DB64-F7BA-499C-85F7-D85A94CF6B56}">
      <dsp:nvSpPr>
        <dsp:cNvPr id="0" name=""/>
        <dsp:cNvSpPr/>
      </dsp:nvSpPr>
      <dsp:spPr>
        <a:xfrm>
          <a:off x="1841362" y="0"/>
          <a:ext cx="1066999" cy="297445"/>
        </a:xfrm>
        <a:prstGeom prst="chevron">
          <a:avLst/>
        </a:prstGeom>
        <a:solidFill>
          <a:srgbClr val="0E2841"/>
        </a:solidFill>
        <a:ln w="19050" cap="flat" cmpd="sng" algn="ctr">
          <a:solidFill>
            <a:schemeClr val="tx2">
              <a:lumMod val="90000"/>
              <a:lumOff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Aug 2025</a:t>
          </a:r>
          <a:endParaRPr lang="en-IN" sz="1100" b="1" kern="1200" dirty="0">
            <a:solidFill>
              <a:prstClr val="white"/>
            </a:solidFill>
            <a:latin typeface="Aptos" panose="020B0004020202020204"/>
            <a:ea typeface="+mn-ea"/>
            <a:cs typeface="+mn-cs"/>
          </a:endParaRPr>
        </a:p>
      </dsp:txBody>
      <dsp:txXfrm>
        <a:off x="1990085" y="0"/>
        <a:ext cx="769554" cy="297445"/>
      </dsp:txXfrm>
    </dsp:sp>
    <dsp:sp modelId="{32C41A2F-790C-484B-858C-8E98EE0A6FED}">
      <dsp:nvSpPr>
        <dsp:cNvPr id="0" name=""/>
        <dsp:cNvSpPr/>
      </dsp:nvSpPr>
      <dsp:spPr>
        <a:xfrm>
          <a:off x="2678363" y="0"/>
          <a:ext cx="1149994" cy="297445"/>
        </a:xfrm>
        <a:prstGeom prst="chevron">
          <a:avLst/>
        </a:prstGeom>
        <a:solidFill>
          <a:srgbClr val="0E2841"/>
        </a:solidFill>
        <a:ln w="19050" cap="flat" cmpd="sng" algn="ctr">
          <a:solidFill>
            <a:schemeClr val="tx2">
              <a:lumMod val="90000"/>
              <a:lumOff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Sep 2025</a:t>
          </a:r>
          <a:endParaRPr lang="en-IN" sz="1100" b="1" kern="1200" dirty="0">
            <a:solidFill>
              <a:prstClr val="white"/>
            </a:solidFill>
            <a:latin typeface="Aptos" panose="020B0004020202020204"/>
            <a:ea typeface="+mn-ea"/>
            <a:cs typeface="+mn-cs"/>
          </a:endParaRPr>
        </a:p>
      </dsp:txBody>
      <dsp:txXfrm>
        <a:off x="2827086" y="0"/>
        <a:ext cx="852549" cy="297445"/>
      </dsp:txXfrm>
    </dsp:sp>
    <dsp:sp modelId="{86E4DDDA-0448-402B-9508-214282D0B7B0}">
      <dsp:nvSpPr>
        <dsp:cNvPr id="0" name=""/>
        <dsp:cNvSpPr/>
      </dsp:nvSpPr>
      <dsp:spPr>
        <a:xfrm>
          <a:off x="3598358" y="0"/>
          <a:ext cx="1149994" cy="297445"/>
        </a:xfrm>
        <a:prstGeom prst="chevron">
          <a:avLst/>
        </a:prstGeom>
        <a:solidFill>
          <a:srgbClr val="0E2841"/>
        </a:solidFill>
        <a:ln w="19050" cap="flat" cmpd="sng" algn="ctr">
          <a:solidFill>
            <a:schemeClr val="tx2">
              <a:lumMod val="90000"/>
              <a:lumOff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Oct 2025</a:t>
          </a:r>
          <a:endParaRPr lang="en-IN" sz="1100" b="1" kern="1200">
            <a:solidFill>
              <a:prstClr val="white"/>
            </a:solidFill>
            <a:latin typeface="Aptos" panose="020B0004020202020204"/>
            <a:ea typeface="+mn-ea"/>
            <a:cs typeface="+mn-cs"/>
          </a:endParaRPr>
        </a:p>
      </dsp:txBody>
      <dsp:txXfrm>
        <a:off x="3747081" y="0"/>
        <a:ext cx="852549" cy="297445"/>
      </dsp:txXfrm>
    </dsp:sp>
    <dsp:sp modelId="{4FFF2FBC-79B2-40DE-9853-6E09D73EE82D}">
      <dsp:nvSpPr>
        <dsp:cNvPr id="0" name=""/>
        <dsp:cNvSpPr/>
      </dsp:nvSpPr>
      <dsp:spPr>
        <a:xfrm>
          <a:off x="4523989" y="0"/>
          <a:ext cx="1018251" cy="297445"/>
        </a:xfrm>
        <a:prstGeom prst="chevron">
          <a:avLst/>
        </a:prstGeom>
        <a:solidFill>
          <a:srgbClr val="0E2841"/>
        </a:solidFill>
        <a:ln w="19050" cap="flat" cmpd="sng" algn="ctr">
          <a:solidFill>
            <a:schemeClr val="tx2">
              <a:lumMod val="90000"/>
              <a:lumOff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Nov 2025</a:t>
          </a:r>
          <a:endParaRPr lang="en-IN" sz="1100" b="1" kern="1200" dirty="0">
            <a:solidFill>
              <a:prstClr val="white"/>
            </a:solidFill>
            <a:latin typeface="Aptos" panose="020B0004020202020204"/>
            <a:ea typeface="+mn-ea"/>
            <a:cs typeface="+mn-cs"/>
          </a:endParaRPr>
        </a:p>
      </dsp:txBody>
      <dsp:txXfrm>
        <a:off x="4672712" y="0"/>
        <a:ext cx="720806" cy="297445"/>
      </dsp:txXfrm>
    </dsp:sp>
    <dsp:sp modelId="{4DF75652-8917-49A6-A26B-8CC54E027A14}">
      <dsp:nvSpPr>
        <dsp:cNvPr id="0" name=""/>
        <dsp:cNvSpPr/>
      </dsp:nvSpPr>
      <dsp:spPr>
        <a:xfrm>
          <a:off x="5306606" y="0"/>
          <a:ext cx="1149994" cy="297445"/>
        </a:xfrm>
        <a:prstGeom prst="chevron">
          <a:avLst/>
        </a:prstGeom>
        <a:solidFill>
          <a:srgbClr val="0E2841"/>
        </a:solidFill>
        <a:ln w="19050" cap="flat" cmpd="sng" algn="ctr">
          <a:solidFill>
            <a:schemeClr val="tx2">
              <a:lumMod val="90000"/>
              <a:lumOff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Dec 2025</a:t>
          </a:r>
        </a:p>
      </dsp:txBody>
      <dsp:txXfrm>
        <a:off x="5455329" y="0"/>
        <a:ext cx="852549" cy="297445"/>
      </dsp:txXfrm>
    </dsp:sp>
    <dsp:sp modelId="{F33CD49B-613A-4C24-91CF-04B8ACFC9BD7}">
      <dsp:nvSpPr>
        <dsp:cNvPr id="0" name=""/>
        <dsp:cNvSpPr/>
      </dsp:nvSpPr>
      <dsp:spPr>
        <a:xfrm>
          <a:off x="6226601" y="0"/>
          <a:ext cx="1149994" cy="297445"/>
        </a:xfrm>
        <a:prstGeom prst="chevron">
          <a:avLst/>
        </a:prstGeom>
        <a:solidFill>
          <a:srgbClr val="0E2841"/>
        </a:solidFill>
        <a:ln w="19050" cap="flat" cmpd="sng" algn="ctr">
          <a:solidFill>
            <a:schemeClr val="tx2">
              <a:lumMod val="90000"/>
              <a:lumOff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Jan 2026</a:t>
          </a:r>
        </a:p>
      </dsp:txBody>
      <dsp:txXfrm>
        <a:off x="6375324" y="0"/>
        <a:ext cx="852549" cy="297445"/>
      </dsp:txXfrm>
    </dsp:sp>
    <dsp:sp modelId="{9B167E9B-4467-46B1-A5AD-2C3D39522EC9}">
      <dsp:nvSpPr>
        <dsp:cNvPr id="0" name=""/>
        <dsp:cNvSpPr/>
      </dsp:nvSpPr>
      <dsp:spPr>
        <a:xfrm>
          <a:off x="7146597" y="0"/>
          <a:ext cx="1149994" cy="297445"/>
        </a:xfrm>
        <a:prstGeom prst="chevron">
          <a:avLst/>
        </a:prstGeom>
        <a:solidFill>
          <a:srgbClr val="0E2841"/>
        </a:solidFill>
        <a:ln w="19050" cap="flat" cmpd="sng" algn="ctr">
          <a:solidFill>
            <a:schemeClr val="tx2">
              <a:lumMod val="90000"/>
              <a:lumOff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34671" rIns="17336" bIns="34671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Feb 2026</a:t>
          </a:r>
        </a:p>
      </dsp:txBody>
      <dsp:txXfrm>
        <a:off x="7295320" y="0"/>
        <a:ext cx="852549" cy="297445"/>
      </dsp:txXfrm>
    </dsp:sp>
    <dsp:sp modelId="{87D9D371-D597-4FCF-BCD4-7111D9FC6B63}">
      <dsp:nvSpPr>
        <dsp:cNvPr id="0" name=""/>
        <dsp:cNvSpPr/>
      </dsp:nvSpPr>
      <dsp:spPr>
        <a:xfrm>
          <a:off x="8066592" y="0"/>
          <a:ext cx="1149994" cy="297445"/>
        </a:xfrm>
        <a:prstGeom prst="chevron">
          <a:avLst/>
        </a:prstGeom>
        <a:solidFill>
          <a:srgbClr val="0E2841"/>
        </a:solidFill>
        <a:ln w="19050" cap="flat" cmpd="sng" algn="ctr">
          <a:solidFill>
            <a:schemeClr val="tx2">
              <a:lumMod val="90000"/>
              <a:lumOff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prstClr val="white"/>
              </a:solidFill>
              <a:latin typeface="Aptos" panose="020B0004020202020204"/>
              <a:ea typeface="+mn-ea"/>
              <a:cs typeface="+mn-cs"/>
            </a:rPr>
            <a:t>Mar 2026</a:t>
          </a:r>
        </a:p>
      </dsp:txBody>
      <dsp:txXfrm>
        <a:off x="8215315" y="0"/>
        <a:ext cx="852549" cy="297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09AB7-93A2-4E92-95B0-5D89D9A188F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796928-DA74-4E05-90BF-1EB1107FF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36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2009-5F9D-DCF9-5F4F-FECE464D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105BC-6019-4640-CFCA-D8E6E3C19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719878-111B-7BBD-92D5-3C3CD32D5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47D944E-9F71-45CF-1E02-AF095DCAA21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9FEE1-A903-0DF0-36C5-1A355B6D6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F7626C-E6EA-F542-B0FD-BE590BC68DB7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E0C910-0166-48E0-B8EF-5071277A02A8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3/3/2026 3:35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3C99A-B6EA-23E9-A957-9D8011C5723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4566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23498-CEF8-6735-A0D0-68ED1F59D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73B4F-0E6A-1C8D-675C-65DD61078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55C2A7-2BB9-D2D4-CE28-F42DBDD16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0781E54-F5A0-2495-DFCB-6CEB3B0973C0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867AF-DBEC-421A-0520-6217484D5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AFFE3B8-7E83-934B-A98B-A1FE865134D6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E0C910-0166-48E0-B8EF-5071277A02A8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3/3/2026 3:35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7A59D-E389-1AEF-AF17-831D17BA96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4886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89041-7492-81C6-6A70-51DDC6C23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93254-1B33-7252-DE17-6AD21B78E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0A2E1-0094-6476-0339-C60DC37E5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B68F4EB-552B-1388-FBD0-7AA933E0C171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52335-BC44-602C-0F39-5C70A11C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37F5B28-0C79-0F37-75C3-54331ABC0DE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E0C910-0166-48E0-B8EF-5071277A02A8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3/3/2026 3:35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07641-C45E-6DA7-FCB2-A6BF0D301EA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542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588E4-6DE4-43E9-0ACB-3C43F8ED4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004D4-992C-9574-A123-D06EB2465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2973E-DEC0-C349-E62E-EBE1A1DB9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86F40DB-0877-CA53-6F5D-8200B263BA81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D538F-CDBE-325E-E6B9-E6E477BCD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2CE1EB-2AE3-9E75-355C-DDAAD2DE3B4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E0C910-0166-48E0-B8EF-5071277A02A8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3/3/2026 3:35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C9444-8AD7-78BA-7F3C-2423153FF7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269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CC395-EA99-3845-3168-818D08688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35F03-EBDA-19B6-ABFD-0EDCBB98AF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C8118-61C7-0C51-92D6-10FDE5DC7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DAE2DAA-B8F4-CE9F-6768-3B12EA0CCC5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9F836-B866-5216-1B2C-784C70D70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4752DE-6891-5342-17DF-05AE3DF07A0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E0C910-0166-48E0-B8EF-5071277A02A8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3/3/2026 3:35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AB4F5-363D-696F-2443-0772DBDEBE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432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3CABA-1313-7EAE-31B9-7665A4E6F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5A996-B21E-A263-DAE4-04C15F26C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BE47C-9642-ACF8-C2B0-B618824D1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FF6DDA4-0DA5-8245-BB6A-358740347BD6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A1A89-3A48-AFC1-8A48-C841937A1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34203D2-899F-1C40-9FE9-B2719D7930B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E0C910-0166-48E0-B8EF-5071277A02A8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3/3/2026 3:35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7128F-30DB-51EF-E18C-9AE86571866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699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272BD-88FE-0D21-3DA9-F76DBCF6E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1A352-3BA8-8BE9-5716-92B71CC7A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3E18C5-2421-64AD-60CD-D7CB8F08F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3129270-51A4-9C2C-6973-94D39172C737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98475-1B76-9179-CB2D-221A52953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16F5DD5-6C29-20E9-3E6D-265EEC01876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E0C910-0166-48E0-B8EF-5071277A02A8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3/3/2026 3:35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B2252-0A85-F840-19FA-FBA0E98A876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941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4674E-965E-AA7C-4E15-50E3056D5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CB290-8F2F-A2AE-9539-2B4F7F821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5DF31-4753-D1D2-FA3D-5542858E1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8ABEF6D-D25A-B455-9444-596CE123AE00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9119E-3495-7F84-103C-95149C82E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DDAAAEB-47A5-7F96-C318-7984132D06F2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E0C910-0166-48E0-B8EF-5071277A02A8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3/3/2026 3:35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1A665-0359-C040-E0B7-C4FEDD6550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44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8AF14-5DA6-D356-F3DA-9CF4F8FF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1BD10-3590-9932-FE18-BCCA1C2E9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1AD8F-4B87-20A9-DFC5-A4977C311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5F6A2AE-17FD-AB19-8448-80641FC26AF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38AEA-9AFE-6C85-5709-AF6F962C9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A0CE3A8-6DA2-4511-33FD-AD5A3EEABF66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E0C910-0166-48E0-B8EF-5071277A02A8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3/3/2026 3:35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11E20-9418-01B0-000F-FE747DCA43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5042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A80D8-1F87-B594-67F0-B4C50F847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495C3-C58F-3893-8C23-82F038AC6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17906-D92F-DEA3-2E6C-CF249E3FE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F2A8568-FE46-A0A2-269A-525E3C92D97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202E9-1F0F-F9C9-7C88-E62EE62EE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2E9079-AA57-4C82-1F5F-38EE91295E2A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E0C910-0166-48E0-B8EF-5071277A02A8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3/3/2026 3:35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95221-DCBC-C547-1AD4-CDF6B78C4AB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584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with Secondar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905B27-7DDC-1B55-3D8F-784286D1D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45719"/>
          </a:xfrm>
          <a:prstGeom prst="rect">
            <a:avLst/>
          </a:prstGeom>
          <a:gradFill>
            <a:gsLst>
              <a:gs pos="100000">
                <a:srgbClr val="0178D4"/>
              </a:gs>
              <a:gs pos="0">
                <a:srgbClr val="D83B01"/>
              </a:gs>
            </a:gsLst>
            <a:lin ang="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F36070A-2FC3-4EDC-80E0-6E13A4AC4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263" y="1165950"/>
            <a:ext cx="11018520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1223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800" b="0">
                <a:solidFill>
                  <a:srgbClr val="D83B01"/>
                </a:solidFill>
                <a:latin typeface="+mj-lt"/>
                <a:cs typeface="Segoe UI Semilight" panose="020B0402040204020203" pitchFamily="34" charset="0"/>
              </a:defRPr>
            </a:lvl1pPr>
            <a:lvl2pPr marL="426956" indent="-171417">
              <a:buFont typeface="Wingdings" panose="05000000000000000000" pitchFamily="2" charset="2"/>
              <a:buChar char=""/>
              <a:defRPr sz="1961" b="0"/>
            </a:lvl2pPr>
            <a:lvl3pPr marL="639640" indent="-188876">
              <a:buFont typeface="Wingdings" panose="05000000000000000000" pitchFamily="2" charset="2"/>
              <a:buChar char=""/>
              <a:tabLst/>
              <a:defRPr sz="1568" b="0"/>
            </a:lvl3pPr>
            <a:lvl4pPr marL="828516" indent="-176180">
              <a:buFont typeface="Wingdings" panose="05000000000000000000" pitchFamily="2" charset="2"/>
              <a:buChar char=""/>
              <a:defRPr sz="1372" b="0"/>
            </a:lvl4pPr>
            <a:lvl5pPr marL="1023741" indent="-169830">
              <a:buFont typeface="Wingdings" panose="05000000000000000000" pitchFamily="2" charset="2"/>
              <a:buChar char=""/>
              <a:tabLst/>
              <a:defRPr sz="1372" b="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84841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1844608"/>
          </a:xfrm>
        </p:spPr>
        <p:txBody>
          <a:bodyPr wrap="square">
            <a:spAutoFit/>
          </a:bodyPr>
          <a:lstStyle>
            <a:lvl1pPr marL="457200" indent="-457200">
              <a:buFont typeface="Arial" panose="020B0604020202020204" pitchFamily="34" charset="0"/>
              <a:buChar char="•"/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71500" indent="-342900">
              <a:buFont typeface="Wingdings" panose="05000000000000000000" pitchFamily="2" charset="2"/>
              <a:buChar char="§"/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800100" indent="-342900">
              <a:buFont typeface="Courier New" panose="02070309020205020404" pitchFamily="49" charset="0"/>
              <a:buChar char="o"/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971550" indent="-285750">
              <a:buFont typeface="Arial" panose="020B0604020202020204" pitchFamily="34" charset="0"/>
              <a:buChar char="•"/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200150" indent="-285750">
              <a:buFont typeface="Wingdings" panose="05000000000000000000" pitchFamily="2" charset="2"/>
              <a:buChar char="ü"/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331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  <p:sldLayoutId id="214748368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0498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txStyles>
    <p:titleStyle>
      <a:lvl1pPr algn="l" defTabSz="1142972" rtl="0" eaLnBrk="1" latinLnBrk="0" hangingPunct="1">
        <a:lnSpc>
          <a:spcPct val="90000"/>
        </a:lnSpc>
        <a:spcBef>
          <a:spcPct val="0"/>
        </a:spcBef>
        <a:buNone/>
        <a:defRPr lang="en-US" sz="2000" b="0" kern="1200" dirty="0">
          <a:solidFill>
            <a:srgbClr val="007CC3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89712" indent="-289712" algn="l" defTabSz="1142972" rtl="0" eaLnBrk="1" latinLnBrk="0" hangingPunct="1">
        <a:lnSpc>
          <a:spcPct val="100000"/>
        </a:lnSpc>
        <a:spcBef>
          <a:spcPts val="469"/>
        </a:spcBef>
        <a:spcAft>
          <a:spcPts val="0"/>
        </a:spcAft>
        <a:buClr>
          <a:schemeClr val="accent1"/>
        </a:buClr>
        <a:buFont typeface="Arial" pitchFamily="34" charset="0"/>
        <a:buChar char="•"/>
        <a:defRPr sz="112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71486" indent="-281774" algn="l" defTabSz="1142972" rtl="0" eaLnBrk="1" latinLnBrk="0" hangingPunct="1">
        <a:lnSpc>
          <a:spcPct val="100000"/>
        </a:lnSpc>
        <a:spcBef>
          <a:spcPts val="469"/>
        </a:spcBef>
        <a:spcAft>
          <a:spcPts val="0"/>
        </a:spcAft>
        <a:buClr>
          <a:schemeClr val="accent1"/>
        </a:buClr>
        <a:buFont typeface="Arial" pitchFamily="34" charset="0"/>
        <a:buChar char="–"/>
        <a:defRPr sz="112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61197" indent="-289712" algn="l" defTabSz="1142972" rtl="0" eaLnBrk="1" latinLnBrk="0" hangingPunct="1">
        <a:lnSpc>
          <a:spcPct val="100000"/>
        </a:lnSpc>
        <a:spcBef>
          <a:spcPts val="469"/>
        </a:spcBef>
        <a:spcAft>
          <a:spcPts val="0"/>
        </a:spcAft>
        <a:buClr>
          <a:schemeClr val="accent1"/>
        </a:buClr>
        <a:buFont typeface="Arial" pitchFamily="34" charset="0"/>
        <a:buChar char="•"/>
        <a:defRPr sz="112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142972" indent="-216293" algn="l" defTabSz="1142972" rtl="0" eaLnBrk="1" latinLnBrk="0" hangingPunct="1">
        <a:lnSpc>
          <a:spcPct val="100000"/>
        </a:lnSpc>
        <a:spcBef>
          <a:spcPts val="469"/>
        </a:spcBef>
        <a:spcAft>
          <a:spcPts val="0"/>
        </a:spcAft>
        <a:buClr>
          <a:schemeClr val="accent1"/>
        </a:buClr>
        <a:buFont typeface="Arial" pitchFamily="34" charset="0"/>
        <a:buChar char="–"/>
        <a:defRPr sz="112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359263" indent="-216293" algn="l" defTabSz="1142972" rtl="0" eaLnBrk="1" latinLnBrk="0" hangingPunct="1">
        <a:lnSpc>
          <a:spcPct val="100000"/>
        </a:lnSpc>
        <a:spcBef>
          <a:spcPts val="469"/>
        </a:spcBef>
        <a:spcAft>
          <a:spcPts val="0"/>
        </a:spcAft>
        <a:buClr>
          <a:schemeClr val="accent1"/>
        </a:buClr>
        <a:buFont typeface="Arial" pitchFamily="34" charset="0"/>
        <a:buChar char="»"/>
        <a:defRPr sz="112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143171" indent="-285743" algn="l" defTabSz="1142972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4657" indent="-285743" algn="l" defTabSz="1142972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6143" indent="-285743" algn="l" defTabSz="1142972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7628" indent="-285743" algn="l" defTabSz="1142972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71486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714457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4pPr>
      <a:lvl5pPr marL="2285943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5pPr>
      <a:lvl6pPr marL="2857429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6pPr>
      <a:lvl7pPr marL="3428915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7pPr>
      <a:lvl8pPr marL="4000400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8pPr>
      <a:lvl9pPr marL="4571886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4.svg"/><Relationship Id="rId5" Type="http://schemas.openxmlformats.org/officeDocument/2006/relationships/diagramLayout" Target="../diagrams/layout1.xml"/><Relationship Id="rId10" Type="http://schemas.openxmlformats.org/officeDocument/2006/relationships/image" Target="../media/image3.svg"/><Relationship Id="rId4" Type="http://schemas.openxmlformats.org/officeDocument/2006/relationships/diagramData" Target="../diagrams/data1.xml"/><Relationship Id="rId9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9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1EB5B3-256A-3F4D-A3F3-A4D25D411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87AAE53-7B61-C84A-DE2A-22B7F52DAFF6}"/>
              </a:ext>
            </a:extLst>
          </p:cNvPr>
          <p:cNvSpPr txBox="1">
            <a:spLocks/>
          </p:cNvSpPr>
          <p:nvPr/>
        </p:nvSpPr>
        <p:spPr>
          <a:xfrm>
            <a:off x="0" y="2697156"/>
            <a:ext cx="12192000" cy="647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dirty="0">
                <a:gradFill flip="none" rotWithShape="1">
                  <a:gsLst>
                    <a:gs pos="0">
                      <a:schemeClr val="accent2"/>
                    </a:gs>
                    <a:gs pos="20000">
                      <a:schemeClr val="accent5">
                        <a:lumMod val="60000"/>
                        <a:lumOff val="40000"/>
                      </a:schemeClr>
                    </a:gs>
                    <a:gs pos="83000">
                      <a:schemeClr val="accent4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</a:rPr>
              <a:t>Template – Scope &amp; Roadmap</a:t>
            </a: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573EE08C-92A2-EDBF-768B-94769FD07541}"/>
              </a:ext>
            </a:extLst>
          </p:cNvPr>
          <p:cNvSpPr txBox="1"/>
          <p:nvPr/>
        </p:nvSpPr>
        <p:spPr>
          <a:xfrm>
            <a:off x="3796030" y="3344582"/>
            <a:ext cx="4903469" cy="4262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highlight>
                  <a:srgbClr val="00FFFF"/>
                </a:highlight>
                <a:ea typeface="Calibri"/>
                <a:cs typeface="Calibri"/>
              </a:rPr>
              <a:t>Template Slide | Replace with your Org Header Slide</a:t>
            </a:r>
          </a:p>
        </p:txBody>
      </p:sp>
    </p:spTree>
    <p:extLst>
      <p:ext uri="{BB962C8B-B14F-4D97-AF65-F5344CB8AC3E}">
        <p14:creationId xmlns:p14="http://schemas.microsoft.com/office/powerpoint/2010/main" val="396747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9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67519-C893-E663-B770-8442748AC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holding a red x&#10;&#10;AI-generated content may be incorrect.">
            <a:extLst>
              <a:ext uri="{FF2B5EF4-FFF2-40B4-BE49-F238E27FC236}">
                <a16:creationId xmlns:a16="http://schemas.microsoft.com/office/drawing/2014/main" id="{12B9C712-E7F6-F747-906B-ABDEA0F74C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65" y="855986"/>
            <a:ext cx="11713509" cy="21712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F0DF4D6-76DB-A651-F428-1D66627236E9}"/>
              </a:ext>
            </a:extLst>
          </p:cNvPr>
          <p:cNvSpPr/>
          <p:nvPr/>
        </p:nvSpPr>
        <p:spPr>
          <a:xfrm>
            <a:off x="242765" y="851024"/>
            <a:ext cx="11716508" cy="2180869"/>
          </a:xfrm>
          <a:prstGeom prst="rect">
            <a:avLst/>
          </a:prstGeom>
          <a:solidFill>
            <a:schemeClr val="tx2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711B85-AB37-80B0-884F-4596DCE56FAF}"/>
              </a:ext>
            </a:extLst>
          </p:cNvPr>
          <p:cNvSpPr/>
          <p:nvPr/>
        </p:nvSpPr>
        <p:spPr>
          <a:xfrm>
            <a:off x="260871" y="3116435"/>
            <a:ext cx="6820658" cy="346261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A7ACCF7C-7C34-652C-01E5-340BA524FB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7913066"/>
              </p:ext>
            </p:extLst>
          </p:nvPr>
        </p:nvGraphicFramePr>
        <p:xfrm>
          <a:off x="1080792" y="4050064"/>
          <a:ext cx="5826134" cy="262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62B2CEC1-584A-98A5-9F3D-942BAB30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351591"/>
              </p:ext>
            </p:extLst>
          </p:nvPr>
        </p:nvGraphicFramePr>
        <p:xfrm>
          <a:off x="395550" y="4358951"/>
          <a:ext cx="6511376" cy="16872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4688">
                  <a:extLst>
                    <a:ext uri="{9D8B030D-6E8A-4147-A177-3AD203B41FA5}">
                      <a16:colId xmlns:a16="http://schemas.microsoft.com/office/drawing/2014/main" val="949504698"/>
                    </a:ext>
                  </a:extLst>
                </a:gridCol>
                <a:gridCol w="5796688">
                  <a:extLst>
                    <a:ext uri="{9D8B030D-6E8A-4147-A177-3AD203B41FA5}">
                      <a16:colId xmlns:a16="http://schemas.microsoft.com/office/drawing/2014/main" val="2994394095"/>
                    </a:ext>
                  </a:extLst>
                </a:gridCol>
              </a:tblGrid>
              <a:tr h="28341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Wave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159383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r"/>
                      <a:r>
                        <a:rPr lang="en-US" sz="12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Wave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3855216"/>
                  </a:ext>
                </a:extLst>
              </a:tr>
              <a:tr h="254144">
                <a:tc>
                  <a:txBody>
                    <a:bodyPr/>
                    <a:lstStyle/>
                    <a:p>
                      <a:pPr algn="r"/>
                      <a:r>
                        <a:rPr lang="en-US" sz="12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Wave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5767647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r"/>
                      <a:r>
                        <a:rPr lang="en-US" sz="12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Wave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2909335"/>
                  </a:ext>
                </a:extLst>
              </a:tr>
              <a:tr h="255494">
                <a:tc>
                  <a:txBody>
                    <a:bodyPr/>
                    <a:lstStyle/>
                    <a:p>
                      <a:pPr algn="r"/>
                      <a:r>
                        <a:rPr lang="en-US" sz="12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Wave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5464886"/>
                  </a:ext>
                </a:extLst>
              </a:tr>
              <a:tr h="263609">
                <a:tc>
                  <a:txBody>
                    <a:bodyPr/>
                    <a:lstStyle/>
                    <a:p>
                      <a:pPr algn="r"/>
                      <a:r>
                        <a:rPr lang="en-US" sz="12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Wave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4516309"/>
                  </a:ext>
                </a:extLst>
              </a:tr>
            </a:tbl>
          </a:graphicData>
        </a:graphic>
      </p:graphicFrame>
      <p:sp>
        <p:nvSpPr>
          <p:cNvPr id="33" name="Arrow: Pentagon 32">
            <a:extLst>
              <a:ext uri="{FF2B5EF4-FFF2-40B4-BE49-F238E27FC236}">
                <a16:creationId xmlns:a16="http://schemas.microsoft.com/office/drawing/2014/main" id="{C938E24E-4CCF-0D76-28E7-DD16725D40CC}"/>
              </a:ext>
            </a:extLst>
          </p:cNvPr>
          <p:cNvSpPr/>
          <p:nvPr/>
        </p:nvSpPr>
        <p:spPr>
          <a:xfrm>
            <a:off x="1282700" y="4695109"/>
            <a:ext cx="2388500" cy="185565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Domain 1 Platform &amp; Insights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35" name="Arrow: Pentagon 34">
            <a:extLst>
              <a:ext uri="{FF2B5EF4-FFF2-40B4-BE49-F238E27FC236}">
                <a16:creationId xmlns:a16="http://schemas.microsoft.com/office/drawing/2014/main" id="{31B26ADE-E2A1-CFC9-D930-87BC10C9375B}"/>
              </a:ext>
            </a:extLst>
          </p:cNvPr>
          <p:cNvSpPr/>
          <p:nvPr/>
        </p:nvSpPr>
        <p:spPr>
          <a:xfrm>
            <a:off x="3407128" y="5000013"/>
            <a:ext cx="2280978" cy="183794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Domain 2 Platform &amp; Insights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36" name="Arrow: Pentagon 35">
            <a:extLst>
              <a:ext uri="{FF2B5EF4-FFF2-40B4-BE49-F238E27FC236}">
                <a16:creationId xmlns:a16="http://schemas.microsoft.com/office/drawing/2014/main" id="{094956CA-152A-3B00-137D-46817017E79C}"/>
              </a:ext>
            </a:extLst>
          </p:cNvPr>
          <p:cNvSpPr/>
          <p:nvPr/>
        </p:nvSpPr>
        <p:spPr>
          <a:xfrm>
            <a:off x="4210050" y="5818220"/>
            <a:ext cx="2641226" cy="183794"/>
          </a:xfrm>
          <a:prstGeom prst="homePlate">
            <a:avLst/>
          </a:prstGeom>
          <a:solidFill>
            <a:srgbClr val="437578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Domain 5 Platform &amp; Insights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37" name="Arrow: Pentagon 36">
            <a:extLst>
              <a:ext uri="{FF2B5EF4-FFF2-40B4-BE49-F238E27FC236}">
                <a16:creationId xmlns:a16="http://schemas.microsoft.com/office/drawing/2014/main" id="{61707767-06DD-0630-BC16-41219887A92D}"/>
              </a:ext>
            </a:extLst>
          </p:cNvPr>
          <p:cNvSpPr/>
          <p:nvPr/>
        </p:nvSpPr>
        <p:spPr>
          <a:xfrm>
            <a:off x="3400097" y="5525964"/>
            <a:ext cx="2280979" cy="183794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Domain 4 Platform &amp; Insights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38" name="Arrow: Pentagon 37">
            <a:extLst>
              <a:ext uri="{FF2B5EF4-FFF2-40B4-BE49-F238E27FC236}">
                <a16:creationId xmlns:a16="http://schemas.microsoft.com/office/drawing/2014/main" id="{79F4E719-2719-2076-54BE-A055F2B1FB69}"/>
              </a:ext>
            </a:extLst>
          </p:cNvPr>
          <p:cNvSpPr/>
          <p:nvPr/>
        </p:nvSpPr>
        <p:spPr>
          <a:xfrm>
            <a:off x="3407127" y="5267148"/>
            <a:ext cx="2280979" cy="183795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Domain 3 Platform &amp; Insights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39" name="Arrow: Pentagon 38">
            <a:extLst>
              <a:ext uri="{FF2B5EF4-FFF2-40B4-BE49-F238E27FC236}">
                <a16:creationId xmlns:a16="http://schemas.microsoft.com/office/drawing/2014/main" id="{8A3CC198-78D2-F62A-A94C-4D5DB1B6F541}"/>
              </a:ext>
            </a:extLst>
          </p:cNvPr>
          <p:cNvSpPr/>
          <p:nvPr/>
        </p:nvSpPr>
        <p:spPr>
          <a:xfrm>
            <a:off x="1191091" y="6114743"/>
            <a:ext cx="5660185" cy="197569"/>
          </a:xfrm>
          <a:prstGeom prst="homePlate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Operations, Framework, CI/CD &amp; Compliance Support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99C373-1EB0-811C-880A-63C5A00E497F}"/>
              </a:ext>
            </a:extLst>
          </p:cNvPr>
          <p:cNvSpPr txBox="1"/>
          <p:nvPr/>
        </p:nvSpPr>
        <p:spPr>
          <a:xfrm>
            <a:off x="395550" y="3213526"/>
            <a:ext cx="6511377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High Level Roadmap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AD03B4-8C28-07EA-D0B5-57208A394ACA}"/>
              </a:ext>
            </a:extLst>
          </p:cNvPr>
          <p:cNvSpPr txBox="1"/>
          <p:nvPr/>
        </p:nvSpPr>
        <p:spPr>
          <a:xfrm>
            <a:off x="395551" y="3595136"/>
            <a:ext cx="6511376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Migrate &lt;fill your&gt; portfolio in &lt;Year/Quarter&gt; and remaining portfolios in &lt;Year/Quarter&gt; .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8BDB87D-B502-F5BD-69F3-48C861A4F492}"/>
              </a:ext>
            </a:extLst>
          </p:cNvPr>
          <p:cNvSpPr/>
          <p:nvPr/>
        </p:nvSpPr>
        <p:spPr>
          <a:xfrm>
            <a:off x="7154578" y="3113876"/>
            <a:ext cx="4804695" cy="346261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EFFB2-7B75-3D23-D970-7F49467F7675}"/>
              </a:ext>
            </a:extLst>
          </p:cNvPr>
          <p:cNvSpPr txBox="1"/>
          <p:nvPr/>
        </p:nvSpPr>
        <p:spPr>
          <a:xfrm>
            <a:off x="7167278" y="3195740"/>
            <a:ext cx="4791995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MS Fabric Migration Benefits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D7D91B-BB6C-BFB2-A75A-2BA49C3DC78D}"/>
              </a:ext>
            </a:extLst>
          </p:cNvPr>
          <p:cNvCxnSpPr>
            <a:cxnSpLocks/>
          </p:cNvCxnSpPr>
          <p:nvPr/>
        </p:nvCxnSpPr>
        <p:spPr>
          <a:xfrm>
            <a:off x="4114809" y="1184974"/>
            <a:ext cx="0" cy="1509789"/>
          </a:xfrm>
          <a:prstGeom prst="line">
            <a:avLst/>
          </a:prstGeom>
          <a:ln>
            <a:gradFill>
              <a:gsLst>
                <a:gs pos="0">
                  <a:srgbClr val="22586F">
                    <a:alpha val="0"/>
                  </a:srgbClr>
                </a:gs>
                <a:gs pos="18000">
                  <a:schemeClr val="bg1"/>
                </a:gs>
                <a:gs pos="83000">
                  <a:schemeClr val="bg1"/>
                </a:gs>
                <a:gs pos="100000">
                  <a:srgbClr val="22586F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B8DF376-2D5C-72E0-15D3-5BFB16AF40B0}"/>
              </a:ext>
            </a:extLst>
          </p:cNvPr>
          <p:cNvSpPr txBox="1"/>
          <p:nvPr/>
        </p:nvSpPr>
        <p:spPr>
          <a:xfrm>
            <a:off x="504270" y="1189975"/>
            <a:ext cx="334800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67">
              <a:defRPr/>
            </a:pPr>
            <a:r>
              <a:rPr lang="en-US" sz="1600" b="1" i="0" u="none" strike="noStrike" dirty="0">
                <a:solidFill>
                  <a:schemeClr val="bg1"/>
                </a:solidFill>
                <a:effectLst/>
              </a:rPr>
              <a:t>Problem Statement</a:t>
            </a:r>
          </a:p>
          <a:p>
            <a:pPr defTabSz="914367">
              <a:defRPr/>
            </a:pPr>
            <a:endParaRPr lang="en-US" sz="1400" dirty="0">
              <a:solidFill>
                <a:schemeClr val="bg1"/>
              </a:solidFill>
            </a:endParaRPr>
          </a:p>
          <a:p>
            <a:pPr defTabSz="914367">
              <a:defRPr/>
            </a:pPr>
            <a:r>
              <a:rPr lang="en-US" sz="1400" dirty="0">
                <a:solidFill>
                  <a:schemeClr val="bg1"/>
                </a:solidFill>
              </a:rPr>
              <a:t>Current solution uses multiple technologies (Azure Synapse, Azure SQL, Azure Data Factory etc.) - creating complexity, operational  overhead.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8E47B2-1F77-18B0-DE32-5A6D5595D6D4}"/>
              </a:ext>
            </a:extLst>
          </p:cNvPr>
          <p:cNvSpPr txBox="1"/>
          <p:nvPr/>
        </p:nvSpPr>
        <p:spPr>
          <a:xfrm>
            <a:off x="4555027" y="1214720"/>
            <a:ext cx="32407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67">
              <a:defRPr/>
            </a:pPr>
            <a:r>
              <a:rPr lang="en-US" sz="1600" b="1" i="0" u="none" strike="noStrike" dirty="0">
                <a:solidFill>
                  <a:schemeClr val="bg1"/>
                </a:solidFill>
                <a:effectLst/>
              </a:rPr>
              <a:t>Current State</a:t>
            </a:r>
          </a:p>
          <a:p>
            <a:pPr defTabSz="914367">
              <a:defRPr/>
            </a:pPr>
            <a:endParaRPr lang="en-US" sz="1400" dirty="0">
              <a:solidFill>
                <a:schemeClr val="bg1"/>
              </a:solidFill>
            </a:endParaRPr>
          </a:p>
          <a:p>
            <a:pPr defTabSz="914367">
              <a:defRPr/>
            </a:pPr>
            <a:r>
              <a:rPr lang="en-US" sz="1400" dirty="0">
                <a:solidFill>
                  <a:schemeClr val="bg1"/>
                </a:solidFill>
                <a:cs typeface="Segoe UI"/>
              </a:rPr>
              <a:t>Over x% of data pipelines rely on Synapse/ASQL for data processing, machine learning, and reporting.</a:t>
            </a:r>
          </a:p>
        </p:txBody>
      </p:sp>
      <p:pic>
        <p:nvPicPr>
          <p:cNvPr id="28" name="Graphic 27" descr="Research outline">
            <a:extLst>
              <a:ext uri="{FF2B5EF4-FFF2-40B4-BE49-F238E27FC236}">
                <a16:creationId xmlns:a16="http://schemas.microsoft.com/office/drawing/2014/main" id="{4C1CBEA7-5495-AA38-4836-26E184A302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28620" y="1256522"/>
            <a:ext cx="302043" cy="302043"/>
          </a:xfrm>
          <a:prstGeom prst="rect">
            <a:avLst/>
          </a:prstGeom>
        </p:spPr>
      </p:pic>
      <p:pic>
        <p:nvPicPr>
          <p:cNvPr id="29" name="Graphic 28" descr="Iceberg outline">
            <a:extLst>
              <a:ext uri="{FF2B5EF4-FFF2-40B4-BE49-F238E27FC236}">
                <a16:creationId xmlns:a16="http://schemas.microsoft.com/office/drawing/2014/main" id="{C34B8C80-0FFF-CF0F-00C9-BA20F41A2A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1195" y="1217149"/>
            <a:ext cx="302043" cy="30204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3B45994-0997-AC3B-457D-95CFE6085ECF}"/>
              </a:ext>
            </a:extLst>
          </p:cNvPr>
          <p:cNvSpPr txBox="1"/>
          <p:nvPr/>
        </p:nvSpPr>
        <p:spPr>
          <a:xfrm>
            <a:off x="8641974" y="1231982"/>
            <a:ext cx="3045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67">
              <a:defRPr/>
            </a:pPr>
            <a:r>
              <a:rPr lang="en-US" sz="1600" b="1" i="0" u="none" strike="noStrike" dirty="0">
                <a:solidFill>
                  <a:schemeClr val="bg1"/>
                </a:solidFill>
                <a:effectLst/>
              </a:rPr>
              <a:t>Project Goal</a:t>
            </a:r>
          </a:p>
          <a:p>
            <a:pPr defTabSz="914367">
              <a:defRPr/>
            </a:pPr>
            <a:endParaRPr lang="en-US" sz="1400" dirty="0">
              <a:solidFill>
                <a:schemeClr val="bg1"/>
              </a:solidFill>
            </a:endParaRPr>
          </a:p>
          <a:p>
            <a:pPr fontAlgn="base"/>
            <a:r>
              <a:rPr lang="en-US" sz="1400" dirty="0">
                <a:solidFill>
                  <a:schemeClr val="bg1"/>
                </a:solidFill>
                <a:cs typeface="Segoe UI"/>
              </a:rPr>
              <a:t>Migrate workloads from, Azure Synapse/SQLDB/Tabular Model to MS Fabric.</a:t>
            </a:r>
          </a:p>
        </p:txBody>
      </p:sp>
      <p:pic>
        <p:nvPicPr>
          <p:cNvPr id="32" name="Graphic 31" descr="Target outline">
            <a:extLst>
              <a:ext uri="{FF2B5EF4-FFF2-40B4-BE49-F238E27FC236}">
                <a16:creationId xmlns:a16="http://schemas.microsoft.com/office/drawing/2014/main" id="{53DCB40F-2172-20AC-AF3E-3B8749006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59531" y="1260592"/>
            <a:ext cx="302043" cy="302043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296882F-AEA4-AF5E-D351-5899950B26F7}"/>
              </a:ext>
            </a:extLst>
          </p:cNvPr>
          <p:cNvCxnSpPr>
            <a:cxnSpLocks/>
          </p:cNvCxnSpPr>
          <p:nvPr/>
        </p:nvCxnSpPr>
        <p:spPr>
          <a:xfrm>
            <a:off x="8173577" y="1184974"/>
            <a:ext cx="0" cy="1509789"/>
          </a:xfrm>
          <a:prstGeom prst="line">
            <a:avLst/>
          </a:prstGeom>
          <a:ln>
            <a:gradFill>
              <a:gsLst>
                <a:gs pos="0">
                  <a:srgbClr val="22586F">
                    <a:alpha val="0"/>
                  </a:srgbClr>
                </a:gs>
                <a:gs pos="18000">
                  <a:schemeClr val="bg1"/>
                </a:gs>
                <a:gs pos="83000">
                  <a:schemeClr val="bg1"/>
                </a:gs>
                <a:gs pos="100000">
                  <a:srgbClr val="22586F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0AE4B3A-56B5-5D0E-D00F-96C33FA3435D}"/>
              </a:ext>
            </a:extLst>
          </p:cNvPr>
          <p:cNvSpPr txBox="1"/>
          <p:nvPr/>
        </p:nvSpPr>
        <p:spPr>
          <a:xfrm>
            <a:off x="7466635" y="3637164"/>
            <a:ext cx="425046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200" i="0" dirty="0">
                <a:solidFill>
                  <a:srgbClr val="92D050"/>
                </a:solidFill>
                <a:effectLst/>
              </a:rPr>
              <a:t>Up to </a:t>
            </a:r>
            <a:r>
              <a:rPr lang="en-US" sz="1200" dirty="0">
                <a:solidFill>
                  <a:srgbClr val="92D050"/>
                </a:solidFill>
              </a:rPr>
              <a:t>x</a:t>
            </a:r>
            <a:r>
              <a:rPr lang="en-US" sz="1200" i="0" dirty="0">
                <a:solidFill>
                  <a:srgbClr val="92D050"/>
                </a:solidFill>
                <a:effectLst/>
              </a:rPr>
              <a:t>% Faster Insights: </a:t>
            </a:r>
            <a:r>
              <a:rPr lang="en-US" sz="1200" i="0" dirty="0">
                <a:solidFill>
                  <a:schemeClr val="bg1"/>
                </a:solidFill>
                <a:effectLst/>
              </a:rPr>
              <a:t>MS Fabric will r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educe data hops for quicker data availability.</a:t>
            </a:r>
          </a:p>
          <a:p>
            <a:pPr marL="171450" indent="-171450" algn="l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200" b="0" i="0" dirty="0">
                <a:solidFill>
                  <a:srgbClr val="92D050"/>
                </a:solidFill>
                <a:effectLst/>
              </a:rPr>
              <a:t>Built-in Copilot: 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MS Fabric will </a:t>
            </a:r>
            <a:r>
              <a:rPr lang="en-US" sz="1200" dirty="0">
                <a:solidFill>
                  <a:schemeClr val="bg1"/>
                </a:solidFill>
              </a:rPr>
              <a:t>e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nhance productivity with Built-in AI capabilities on data.</a:t>
            </a:r>
          </a:p>
          <a:p>
            <a:pPr marL="171450" indent="-171450" algn="l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200" b="0" i="0" dirty="0">
                <a:solidFill>
                  <a:srgbClr val="92D050"/>
                </a:solidFill>
                <a:effectLst/>
              </a:rPr>
              <a:t>Up to $x Annual Savings: </a:t>
            </a:r>
            <a:r>
              <a:rPr lang="en-US" sz="1200" dirty="0">
                <a:solidFill>
                  <a:schemeClr val="bg1"/>
                </a:solidFill>
              </a:rPr>
              <a:t>MS Fabric cuts 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infrastructure costs through consolidation and optimized resource usage.</a:t>
            </a:r>
          </a:p>
        </p:txBody>
      </p:sp>
      <p:sp>
        <p:nvSpPr>
          <p:cNvPr id="49" name="Arrow: Pentagon 48">
            <a:extLst>
              <a:ext uri="{FF2B5EF4-FFF2-40B4-BE49-F238E27FC236}">
                <a16:creationId xmlns:a16="http://schemas.microsoft.com/office/drawing/2014/main" id="{8E9CB040-5288-851B-F163-E04AB16EA525}"/>
              </a:ext>
            </a:extLst>
          </p:cNvPr>
          <p:cNvSpPr/>
          <p:nvPr/>
        </p:nvSpPr>
        <p:spPr>
          <a:xfrm>
            <a:off x="1133811" y="4396696"/>
            <a:ext cx="1228389" cy="185565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Pre-Requisites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8F3C70EF-EEA6-8A34-BCCC-ED64A579DDBE}"/>
              </a:ext>
            </a:extLst>
          </p:cNvPr>
          <p:cNvSpPr txBox="1"/>
          <p:nvPr/>
        </p:nvSpPr>
        <p:spPr>
          <a:xfrm>
            <a:off x="8145781" y="197409"/>
            <a:ext cx="4038142" cy="4262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highlight>
                  <a:srgbClr val="00FFFF"/>
                </a:highlight>
                <a:ea typeface="Calibri"/>
                <a:cs typeface="Calibri"/>
              </a:rPr>
              <a:t>Template Slide | Replace with your Org Data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4AED12E-8FAF-2A70-77CE-E111993ED144}"/>
              </a:ext>
            </a:extLst>
          </p:cNvPr>
          <p:cNvSpPr txBox="1">
            <a:spLocks/>
          </p:cNvSpPr>
          <p:nvPr/>
        </p:nvSpPr>
        <p:spPr>
          <a:xfrm>
            <a:off x="0" y="119056"/>
            <a:ext cx="12192000" cy="647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dirty="0">
                <a:gradFill flip="none" rotWithShape="1">
                  <a:gsLst>
                    <a:gs pos="0">
                      <a:schemeClr val="accent2"/>
                    </a:gs>
                    <a:gs pos="20000">
                      <a:schemeClr val="accent5">
                        <a:lumMod val="60000"/>
                        <a:lumOff val="40000"/>
                      </a:schemeClr>
                    </a:gs>
                    <a:gs pos="83000">
                      <a:schemeClr val="accent4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</a:rPr>
              <a:t>Project Summary</a:t>
            </a:r>
          </a:p>
        </p:txBody>
      </p:sp>
    </p:spTree>
    <p:extLst>
      <p:ext uri="{BB962C8B-B14F-4D97-AF65-F5344CB8AC3E}">
        <p14:creationId xmlns:p14="http://schemas.microsoft.com/office/powerpoint/2010/main" val="4052287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9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E95549-EF3E-44B3-A33D-43BE36B7E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9">
            <a:extLst>
              <a:ext uri="{FF2B5EF4-FFF2-40B4-BE49-F238E27FC236}">
                <a16:creationId xmlns:a16="http://schemas.microsoft.com/office/drawing/2014/main" id="{2A9AADDB-6028-B025-C6BB-F79E471E8BE6}"/>
              </a:ext>
            </a:extLst>
          </p:cNvPr>
          <p:cNvSpPr txBox="1"/>
          <p:nvPr/>
        </p:nvSpPr>
        <p:spPr>
          <a:xfrm>
            <a:off x="8145781" y="197409"/>
            <a:ext cx="4038142" cy="4262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highlight>
                  <a:srgbClr val="00FFFF"/>
                </a:highlight>
                <a:ea typeface="Calibri"/>
                <a:cs typeface="Calibri"/>
              </a:rPr>
              <a:t>Template Slide | Replace with your Org Data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6B16C44-3EA0-DC8C-CFF0-EA441B395765}"/>
              </a:ext>
            </a:extLst>
          </p:cNvPr>
          <p:cNvSpPr txBox="1">
            <a:spLocks/>
          </p:cNvSpPr>
          <p:nvPr/>
        </p:nvSpPr>
        <p:spPr>
          <a:xfrm>
            <a:off x="0" y="119056"/>
            <a:ext cx="12192000" cy="647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dirty="0">
                <a:gradFill flip="none" rotWithShape="1">
                  <a:gsLst>
                    <a:gs pos="0">
                      <a:schemeClr val="accent2"/>
                    </a:gs>
                    <a:gs pos="20000">
                      <a:schemeClr val="accent5">
                        <a:lumMod val="60000"/>
                        <a:lumOff val="40000"/>
                      </a:schemeClr>
                    </a:gs>
                    <a:gs pos="83000">
                      <a:schemeClr val="accent4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</a:rPr>
              <a:t>Scope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8697668-0D1D-3E7D-E697-BDFF9D673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953321"/>
              </p:ext>
            </p:extLst>
          </p:nvPr>
        </p:nvGraphicFramePr>
        <p:xfrm>
          <a:off x="192511" y="925765"/>
          <a:ext cx="6309889" cy="2577830"/>
        </p:xfrm>
        <a:graphic>
          <a:graphicData uri="http://schemas.openxmlformats.org/drawingml/2006/table">
            <a:tbl>
              <a:tblPr/>
              <a:tblGrid>
                <a:gridCol w="1353513">
                  <a:extLst>
                    <a:ext uri="{9D8B030D-6E8A-4147-A177-3AD203B41FA5}">
                      <a16:colId xmlns:a16="http://schemas.microsoft.com/office/drawing/2014/main" val="2433891196"/>
                    </a:ext>
                  </a:extLst>
                </a:gridCol>
                <a:gridCol w="4956376">
                  <a:extLst>
                    <a:ext uri="{9D8B030D-6E8A-4147-A177-3AD203B41FA5}">
                      <a16:colId xmlns:a16="http://schemas.microsoft.com/office/drawing/2014/main" val="2368601326"/>
                    </a:ext>
                  </a:extLst>
                </a:gridCol>
              </a:tblGrid>
              <a:tr h="34941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Infrastructure, CI/CD, Framework &amp; Compliance components</a:t>
                      </a:r>
                      <a:r>
                        <a:rPr lang="fr-FR" sz="16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  <a:endParaRPr lang="fr-FR" sz="1800" b="1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962967"/>
                  </a:ext>
                </a:extLst>
              </a:tr>
              <a:tr h="444709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</a:pPr>
                      <a:r>
                        <a:rPr lang="en-US" sz="11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Infrastructure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Manage Synapse Workspaces/Spark Pools, MS Fabric Capacity and Data Lakes.</a:t>
                      </a:r>
                      <a:endParaRPr lang="en-US" sz="1400" b="0" i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184255"/>
                  </a:ext>
                </a:extLst>
              </a:tr>
              <a:tr h="794124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</a:pPr>
                      <a:r>
                        <a:rPr lang="en-US" sz="11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Framework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1. Migrate the Orchestration framework scrips (Ingestion for ADLS/Kusto, PII, GDPR, DQ, Text Translator, Audit Processing such as Telemetry/ADLS Size/Folder Switch, Purview Management, Job Notification) from Synapse to Fabric. </a:t>
                      </a:r>
                      <a:b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2. Add Data Orchestration Framework for MS Fabric.</a:t>
                      </a:r>
                      <a:endParaRPr lang="en-US" sz="1400" b="0" i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328721"/>
                  </a:ext>
                </a:extLst>
              </a:tr>
              <a:tr h="854067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</a:pPr>
                      <a:r>
                        <a:rPr lang="en-US" sz="11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Engineering Governance &amp; CI/CD 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1. Leverage the existing setup/process for synapse code repo, branching strategy &amp; release pipelines.​ </a:t>
                      </a:r>
                    </a:p>
                    <a:p>
                      <a:pPr marL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2. Create process for MS Fabric code repo &amp; release pipelines.​</a:t>
                      </a:r>
                    </a:p>
                    <a:p>
                      <a:pPr marL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3. Update Engineering Standard/Guidelines &amp; govern the implementation.</a:t>
                      </a:r>
                      <a:endParaRPr lang="en-US" sz="11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60448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8AE9897-B571-8BAE-3CB3-86CEBFDAEB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482486"/>
              </p:ext>
            </p:extLst>
          </p:nvPr>
        </p:nvGraphicFramePr>
        <p:xfrm>
          <a:off x="192510" y="3524582"/>
          <a:ext cx="6309889" cy="2971802"/>
        </p:xfrm>
        <a:graphic>
          <a:graphicData uri="http://schemas.openxmlformats.org/drawingml/2006/table">
            <a:tbl>
              <a:tblPr/>
              <a:tblGrid>
                <a:gridCol w="1353513">
                  <a:extLst>
                    <a:ext uri="{9D8B030D-6E8A-4147-A177-3AD203B41FA5}">
                      <a16:colId xmlns:a16="http://schemas.microsoft.com/office/drawing/2014/main" val="2433891196"/>
                    </a:ext>
                  </a:extLst>
                </a:gridCol>
                <a:gridCol w="4956376">
                  <a:extLst>
                    <a:ext uri="{9D8B030D-6E8A-4147-A177-3AD203B41FA5}">
                      <a16:colId xmlns:a16="http://schemas.microsoft.com/office/drawing/2014/main" val="2368601326"/>
                    </a:ext>
                  </a:extLst>
                </a:gridCol>
              </a:tblGrid>
              <a:tr h="37791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Data Platform &amp; AA</a:t>
                      </a:r>
                      <a:endParaRPr lang="fr-FR" sz="1800" b="1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962967"/>
                  </a:ext>
                </a:extLst>
              </a:tr>
              <a:tr h="292027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</a:pPr>
                      <a:r>
                        <a:rPr lang="en-US" sz="11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Ingestion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&lt;&lt;Callout the change&gt;&gt;</a:t>
                      </a:r>
                      <a:endParaRPr lang="en-US" sz="1400" b="0" i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184255"/>
                  </a:ext>
                </a:extLst>
              </a:tr>
              <a:tr h="1236819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</a:pPr>
                      <a:r>
                        <a:rPr lang="en-US" sz="11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Transformation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</a:pP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1. No change to gold Data Model.</a:t>
                      </a:r>
                      <a:b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2. </a:t>
                      </a:r>
                      <a:r>
                        <a:rPr lang="en-US" sz="11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 Spark notebooks from Synapse to MS Fabric. </a:t>
                      </a:r>
                    </a:p>
                    <a:p>
                      <a:pPr marL="0" indent="0" algn="l" rtl="0" fontAlgn="base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3. Update the spark notebook name, output folder &amp; cell headers to follow </a:t>
                      </a:r>
                      <a:r>
                        <a:rPr lang="en-US" sz="1100" b="0" i="1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&lt;standards link&gt;</a:t>
                      </a:r>
                    </a:p>
                    <a:p>
                      <a:pPr marL="0" indent="0" algn="l" rtl="0" fontAlgn="base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4. Cleanup the spark notebooks wherever required (removing unwanted code and data).​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328721"/>
                  </a:ext>
                </a:extLst>
              </a:tr>
              <a:tr h="292027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</a:pPr>
                      <a:r>
                        <a:rPr lang="en-US" sz="11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Publish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Migrate all SQL DB views to MS Fabric.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604482"/>
                  </a:ext>
                </a:extLst>
              </a:tr>
              <a:tr h="292027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</a:pPr>
                      <a:r>
                        <a:rPr lang="en-US" sz="11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Semantic Model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base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Migrate SQL Tabular Models to MS Fabric as Direct Lake semantic models</a:t>
                      </a:r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.</a:t>
                      </a: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837249"/>
                  </a:ext>
                </a:extLst>
              </a:tr>
              <a:tr h="480985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</a:pPr>
                      <a:r>
                        <a:rPr lang="en-US" sz="11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ETL Metadata Configuration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Configure Orchestration framework metadata for Data Pipeline Job, Data Quality Check, Compliance, and Object Level Security.​</a:t>
                      </a:r>
                      <a:endParaRPr lang="en-US" sz="1400" b="0" i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25204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DE75609-2C0B-68A0-F5CC-B21C05D1A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178069"/>
              </p:ext>
            </p:extLst>
          </p:nvPr>
        </p:nvGraphicFramePr>
        <p:xfrm>
          <a:off x="6699250" y="3524586"/>
          <a:ext cx="5325639" cy="2971801"/>
        </p:xfrm>
        <a:graphic>
          <a:graphicData uri="http://schemas.openxmlformats.org/drawingml/2006/table">
            <a:tbl>
              <a:tblPr/>
              <a:tblGrid>
                <a:gridCol w="1771650">
                  <a:extLst>
                    <a:ext uri="{9D8B030D-6E8A-4147-A177-3AD203B41FA5}">
                      <a16:colId xmlns:a16="http://schemas.microsoft.com/office/drawing/2014/main" val="2433891196"/>
                    </a:ext>
                  </a:extLst>
                </a:gridCol>
                <a:gridCol w="3553989">
                  <a:extLst>
                    <a:ext uri="{9D8B030D-6E8A-4147-A177-3AD203B41FA5}">
                      <a16:colId xmlns:a16="http://schemas.microsoft.com/office/drawing/2014/main" val="2368601326"/>
                    </a:ext>
                  </a:extLst>
                </a:gridCol>
              </a:tblGrid>
              <a:tr h="40608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Consumer Impact</a:t>
                      </a:r>
                      <a:endParaRPr lang="fr-FR" sz="1800" b="1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962967"/>
                  </a:ext>
                </a:extLst>
              </a:tr>
              <a:tr h="516835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</a:pPr>
                      <a:r>
                        <a:rPr lang="en-US" sz="11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BI report users​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 Impact.</a:t>
                      </a:r>
                      <a:endParaRPr lang="en-US" sz="1400" b="0" i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184255"/>
                  </a:ext>
                </a:extLst>
              </a:tr>
              <a:tr h="1125962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</a:pPr>
                      <a:r>
                        <a:rPr lang="en-US" sz="11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Azure SQL DB, Power BI Semantic Model &amp; SQL Server Tabular Model users​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rtl="0" fontAlgn="base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1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No/limited schema &amp; data changes to data models. </a:t>
                      </a:r>
                    </a:p>
                    <a:p>
                      <a:pPr marL="0" indent="0" rtl="0" fontAlgn="base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1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However, all the &lt;add you user group&gt; will need to update their connection strings to MS Fabric SQL &amp; Semantic Model Endpoints.​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328721"/>
                  </a:ext>
                </a:extLst>
              </a:tr>
              <a:tr h="922919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</a:pPr>
                      <a:endParaRPr lang="en-US" sz="11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rtl="0" fontAlgn="base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1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60448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1F5E67B-2E2D-1C67-37FD-B72D73091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370134"/>
              </p:ext>
            </p:extLst>
          </p:nvPr>
        </p:nvGraphicFramePr>
        <p:xfrm>
          <a:off x="6699250" y="925764"/>
          <a:ext cx="5325639" cy="2442315"/>
        </p:xfrm>
        <a:graphic>
          <a:graphicData uri="http://schemas.openxmlformats.org/drawingml/2006/table">
            <a:tbl>
              <a:tblPr/>
              <a:tblGrid>
                <a:gridCol w="1765300">
                  <a:extLst>
                    <a:ext uri="{9D8B030D-6E8A-4147-A177-3AD203B41FA5}">
                      <a16:colId xmlns:a16="http://schemas.microsoft.com/office/drawing/2014/main" val="2433891196"/>
                    </a:ext>
                  </a:extLst>
                </a:gridCol>
                <a:gridCol w="3560339">
                  <a:extLst>
                    <a:ext uri="{9D8B030D-6E8A-4147-A177-3AD203B41FA5}">
                      <a16:colId xmlns:a16="http://schemas.microsoft.com/office/drawing/2014/main" val="2368601326"/>
                    </a:ext>
                  </a:extLst>
                </a:gridCol>
              </a:tblGrid>
              <a:tr h="38353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Insights</a:t>
                      </a:r>
                      <a:endParaRPr lang="fr-FR" sz="1800" b="1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962967"/>
                  </a:ext>
                </a:extLst>
              </a:tr>
              <a:tr h="4881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Reporting Databases/Views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base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1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Migrate all reporting databases &amp; views to MS Fabric Lakehouse Database​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184255"/>
                  </a:ext>
                </a:extLst>
              </a:tr>
              <a:tr h="488139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</a:pPr>
                      <a:r>
                        <a:rPr lang="en-US" sz="11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Semantic Models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base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100" b="0" i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Migrate existing datasets to MS Fabric (1) Smaller datasets to Direct Lake semantic model (2) Retain complex datasets as import model </a:t>
                      </a:r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.</a:t>
                      </a:r>
                      <a:r>
                        <a:rPr lang="en-US" sz="1100" b="0" i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328721"/>
                  </a:ext>
                </a:extLst>
              </a:tr>
              <a:tr h="488139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</a:pPr>
                      <a:r>
                        <a:rPr lang="en-US" sz="11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Anchor Reports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base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Rewire all existing reports to query from MS Fabric as Direct Lake semantic models</a:t>
                      </a:r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.</a:t>
                      </a: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604482"/>
                  </a:ext>
                </a:extLst>
              </a:tr>
              <a:tr h="488139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</a:pPr>
                      <a:r>
                        <a:rPr lang="en-US" sz="11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ETL Metadata Configuration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base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Configure orchestration framework metadata to refresh reporting database &amp; semantic models​.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252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734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9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C6BE4B-52B6-012C-B1D3-890BF8574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9">
            <a:extLst>
              <a:ext uri="{FF2B5EF4-FFF2-40B4-BE49-F238E27FC236}">
                <a16:creationId xmlns:a16="http://schemas.microsoft.com/office/drawing/2014/main" id="{8ED201E9-C54C-AF8E-FF38-BE85493B1853}"/>
              </a:ext>
            </a:extLst>
          </p:cNvPr>
          <p:cNvSpPr txBox="1"/>
          <p:nvPr/>
        </p:nvSpPr>
        <p:spPr>
          <a:xfrm>
            <a:off x="8145781" y="197409"/>
            <a:ext cx="4038142" cy="4262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highlight>
                  <a:srgbClr val="00FFFF"/>
                </a:highlight>
                <a:ea typeface="Calibri"/>
                <a:cs typeface="Calibri"/>
              </a:rPr>
              <a:t>Template Slide | Replace with your Org Data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25AB98-23C6-4C1D-AE04-D63CF2F0716B}"/>
              </a:ext>
            </a:extLst>
          </p:cNvPr>
          <p:cNvSpPr txBox="1">
            <a:spLocks/>
          </p:cNvSpPr>
          <p:nvPr/>
        </p:nvSpPr>
        <p:spPr>
          <a:xfrm>
            <a:off x="0" y="119056"/>
            <a:ext cx="12192000" cy="647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dirty="0">
                <a:gradFill flip="none" rotWithShape="1">
                  <a:gsLst>
                    <a:gs pos="0">
                      <a:schemeClr val="accent2"/>
                    </a:gs>
                    <a:gs pos="20000">
                      <a:schemeClr val="accent5">
                        <a:lumMod val="60000"/>
                        <a:lumOff val="40000"/>
                      </a:schemeClr>
                    </a:gs>
                    <a:gs pos="83000">
                      <a:schemeClr val="accent4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</a:rPr>
              <a:t>Callouts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FAD3EF-FA8E-32CD-AA9B-DB2FDB804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800259"/>
              </p:ext>
            </p:extLst>
          </p:nvPr>
        </p:nvGraphicFramePr>
        <p:xfrm>
          <a:off x="179811" y="853459"/>
          <a:ext cx="8303760" cy="2268587"/>
        </p:xfrm>
        <a:graphic>
          <a:graphicData uri="http://schemas.openxmlformats.org/drawingml/2006/table">
            <a:tbl>
              <a:tblPr/>
              <a:tblGrid>
                <a:gridCol w="8303760">
                  <a:extLst>
                    <a:ext uri="{9D8B030D-6E8A-4147-A177-3AD203B41FA5}">
                      <a16:colId xmlns:a16="http://schemas.microsoft.com/office/drawing/2014/main" val="2433891196"/>
                    </a:ext>
                  </a:extLst>
                </a:gridCol>
              </a:tblGrid>
              <a:tr h="23363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 i="0" dirty="0">
                          <a:solidFill>
                            <a:schemeClr val="bg1"/>
                          </a:solidFill>
                          <a:effectLst/>
                          <a:latin typeface="+mn-lt"/>
                          <a:cs typeface="Segoe UI"/>
                        </a:rPr>
                        <a:t>Callouts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962967"/>
                  </a:ext>
                </a:extLst>
              </a:tr>
              <a:tr h="19333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100" b="0" i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&lt;&lt;Placeholder&gt;&gt;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18425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779EEC-7658-8153-737C-ED007BC65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050634"/>
              </p:ext>
            </p:extLst>
          </p:nvPr>
        </p:nvGraphicFramePr>
        <p:xfrm>
          <a:off x="8621594" y="853921"/>
          <a:ext cx="3413352" cy="2268587"/>
        </p:xfrm>
        <a:graphic>
          <a:graphicData uri="http://schemas.openxmlformats.org/drawingml/2006/table">
            <a:tbl>
              <a:tblPr/>
              <a:tblGrid>
                <a:gridCol w="3413352">
                  <a:extLst>
                    <a:ext uri="{9D8B030D-6E8A-4147-A177-3AD203B41FA5}">
                      <a16:colId xmlns:a16="http://schemas.microsoft.com/office/drawing/2014/main" val="2433891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 i="0" dirty="0">
                          <a:solidFill>
                            <a:schemeClr val="bg1"/>
                          </a:solidFill>
                          <a:effectLst/>
                          <a:latin typeface="+mn-lt"/>
                          <a:cs typeface="Segoe UI"/>
                        </a:rPr>
                        <a:t>Out of scope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962967"/>
                  </a:ext>
                </a:extLst>
              </a:tr>
              <a:tr h="19333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100" b="0" i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&lt;&lt;Placeholder&gt;&gt;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18425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2BF6762-B574-6EB4-66D5-9AF193333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029643"/>
              </p:ext>
            </p:extLst>
          </p:nvPr>
        </p:nvGraphicFramePr>
        <p:xfrm>
          <a:off x="179811" y="3250759"/>
          <a:ext cx="11855134" cy="335280"/>
        </p:xfrm>
        <a:graphic>
          <a:graphicData uri="http://schemas.openxmlformats.org/drawingml/2006/table">
            <a:tbl>
              <a:tblPr/>
              <a:tblGrid>
                <a:gridCol w="11855134">
                  <a:extLst>
                    <a:ext uri="{9D8B030D-6E8A-4147-A177-3AD203B41FA5}">
                      <a16:colId xmlns:a16="http://schemas.microsoft.com/office/drawing/2014/main" val="2433891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 i="0" dirty="0">
                          <a:solidFill>
                            <a:schemeClr val="bg1"/>
                          </a:solidFill>
                          <a:effectLst/>
                          <a:latin typeface="+mn-lt"/>
                          <a:cs typeface="Segoe UI"/>
                        </a:rPr>
                        <a:t>Risks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96296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CBDE2CE-BF88-BBA2-19D7-46D1485D5D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940466"/>
              </p:ext>
            </p:extLst>
          </p:nvPr>
        </p:nvGraphicFramePr>
        <p:xfrm>
          <a:off x="179811" y="3638585"/>
          <a:ext cx="11855133" cy="2866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69">
                  <a:extLst>
                    <a:ext uri="{9D8B030D-6E8A-4147-A177-3AD203B41FA5}">
                      <a16:colId xmlns:a16="http://schemas.microsoft.com/office/drawing/2014/main" val="3897994256"/>
                    </a:ext>
                  </a:extLst>
                </a:gridCol>
                <a:gridCol w="1264470">
                  <a:extLst>
                    <a:ext uri="{9D8B030D-6E8A-4147-A177-3AD203B41FA5}">
                      <a16:colId xmlns:a16="http://schemas.microsoft.com/office/drawing/2014/main" val="2919406664"/>
                    </a:ext>
                  </a:extLst>
                </a:gridCol>
                <a:gridCol w="2774950">
                  <a:extLst>
                    <a:ext uri="{9D8B030D-6E8A-4147-A177-3AD203B41FA5}">
                      <a16:colId xmlns:a16="http://schemas.microsoft.com/office/drawing/2014/main" val="858466080"/>
                    </a:ext>
                  </a:extLst>
                </a:gridCol>
                <a:gridCol w="5377372">
                  <a:extLst>
                    <a:ext uri="{9D8B030D-6E8A-4147-A177-3AD203B41FA5}">
                      <a16:colId xmlns:a16="http://schemas.microsoft.com/office/drawing/2014/main" val="4184643327"/>
                    </a:ext>
                  </a:extLst>
                </a:gridCol>
                <a:gridCol w="2149072">
                  <a:extLst>
                    <a:ext uri="{9D8B030D-6E8A-4147-A177-3AD203B41FA5}">
                      <a16:colId xmlns:a16="http://schemas.microsoft.com/office/drawing/2014/main" val="3927894146"/>
                    </a:ext>
                  </a:extLst>
                </a:gridCol>
              </a:tblGrid>
              <a:tr h="22111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Mitigation Strategy/Plan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Mitigation Threshold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471825"/>
                  </a:ext>
                </a:extLst>
              </a:tr>
              <a:tr h="507252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Downstream Adoption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Downstream users might fail to migrate to the new endpoints on time.</a:t>
                      </a:r>
                      <a:endParaRPr 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Minimize data/schema changes, communicate early and often, monitor progress closely, and halt new enhancements and non-critical bug fixes post-production to enforce migration.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980215"/>
                  </a:ext>
                </a:extLst>
              </a:tr>
              <a:tr h="793394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Fabric Semantic Model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Hierarchy Limitation: Power BI semantic models on Direct Lake don't preserve hierarchies in PivotTable Fields in 'Analyze in Excel,' affecting data aggregation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Plan A: </a:t>
                      </a:r>
                      <a:r>
                        <a:rPr lang="en-US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Get the roadmap/resolution from the Fabric Product Team and inform Excel users to replace hierarchies with direct columns. </a:t>
                      </a:r>
                      <a:r>
                        <a:rPr lang="en-US" sz="11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Plan</a:t>
                      </a:r>
                      <a:r>
                        <a:rPr lang="en-US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B: </a:t>
                      </a:r>
                      <a:r>
                        <a:rPr lang="en-US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If Plan A doesn’t work, revert to using the Import Model.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By the first week of &lt;add your threshold month&gt;, if Plan A hasn't made enough progress, we will shift to Plan B.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379507"/>
                  </a:ext>
                </a:extLst>
              </a:tr>
              <a:tr h="793394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&lt;&lt;Placeholder&gt;&gt;</a:t>
                      </a:r>
                    </a:p>
                    <a:p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111315"/>
                  </a:ext>
                </a:extLst>
              </a:tr>
              <a:tr h="364181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&lt;&lt;Placeholder&gt;&gt;</a:t>
                      </a:r>
                    </a:p>
                    <a:p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73966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290ADDB-EF04-4BF1-25B3-60D2EFF59D9C}"/>
              </a:ext>
            </a:extLst>
          </p:cNvPr>
          <p:cNvSpPr txBox="1"/>
          <p:nvPr/>
        </p:nvSpPr>
        <p:spPr>
          <a:xfrm>
            <a:off x="92404" y="6505533"/>
            <a:ext cx="119425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*** If we move forward with Plan B for both Risk #2 and Risk #3, &lt;callout what you may not gain for your leadership awareness&gt;. </a:t>
            </a:r>
          </a:p>
        </p:txBody>
      </p:sp>
    </p:spTree>
    <p:extLst>
      <p:ext uri="{BB962C8B-B14F-4D97-AF65-F5344CB8AC3E}">
        <p14:creationId xmlns:p14="http://schemas.microsoft.com/office/powerpoint/2010/main" val="1649422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9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7430A-EF94-A088-8CC9-AB65F0FFA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94CB0C7-3C3D-FE48-47E3-D05B5F0FAEE2}"/>
              </a:ext>
            </a:extLst>
          </p:cNvPr>
          <p:cNvSpPr txBox="1">
            <a:spLocks/>
          </p:cNvSpPr>
          <p:nvPr/>
        </p:nvSpPr>
        <p:spPr>
          <a:xfrm>
            <a:off x="0" y="2697156"/>
            <a:ext cx="12192000" cy="647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dirty="0">
                <a:gradFill flip="none" rotWithShape="1">
                  <a:gsLst>
                    <a:gs pos="0">
                      <a:schemeClr val="accent2"/>
                    </a:gs>
                    <a:gs pos="20000">
                      <a:schemeClr val="accent5">
                        <a:lumMod val="60000"/>
                        <a:lumOff val="40000"/>
                      </a:schemeClr>
                    </a:gs>
                    <a:gs pos="83000">
                      <a:schemeClr val="accent4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</a:rPr>
              <a:t>Domain 1 - Roadmap</a:t>
            </a: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38E7E091-8775-5504-E4B0-132F172FFA6A}"/>
              </a:ext>
            </a:extLst>
          </p:cNvPr>
          <p:cNvSpPr txBox="1"/>
          <p:nvPr/>
        </p:nvSpPr>
        <p:spPr>
          <a:xfrm>
            <a:off x="3796030" y="3344582"/>
            <a:ext cx="4903469" cy="4262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highlight>
                  <a:srgbClr val="00FFFF"/>
                </a:highlight>
                <a:ea typeface="Calibri"/>
                <a:cs typeface="Calibri"/>
              </a:rPr>
              <a:t>Template Slide | Replace with your Org Header Slide</a:t>
            </a:r>
          </a:p>
        </p:txBody>
      </p:sp>
    </p:spTree>
    <p:extLst>
      <p:ext uri="{BB962C8B-B14F-4D97-AF65-F5344CB8AC3E}">
        <p14:creationId xmlns:p14="http://schemas.microsoft.com/office/powerpoint/2010/main" val="55444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9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F2E53C-0737-05B9-4B94-034E0ED64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9">
            <a:extLst>
              <a:ext uri="{FF2B5EF4-FFF2-40B4-BE49-F238E27FC236}">
                <a16:creationId xmlns:a16="http://schemas.microsoft.com/office/drawing/2014/main" id="{C8F37030-F1BF-D9C0-98BB-CDA7DE5F42D8}"/>
              </a:ext>
            </a:extLst>
          </p:cNvPr>
          <p:cNvSpPr txBox="1"/>
          <p:nvPr/>
        </p:nvSpPr>
        <p:spPr>
          <a:xfrm>
            <a:off x="300622" y="182554"/>
            <a:ext cx="4038142" cy="4262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highlight>
                  <a:srgbClr val="00FFFF"/>
                </a:highlight>
                <a:ea typeface="Calibri"/>
                <a:cs typeface="Calibri"/>
              </a:rPr>
              <a:t>Template Slide | Replace with your Org Data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22EDDEE-E995-4CB8-6B9D-B2C2E25E8093}"/>
              </a:ext>
            </a:extLst>
          </p:cNvPr>
          <p:cNvSpPr txBox="1">
            <a:spLocks/>
          </p:cNvSpPr>
          <p:nvPr/>
        </p:nvSpPr>
        <p:spPr>
          <a:xfrm>
            <a:off x="0" y="119056"/>
            <a:ext cx="12192000" cy="647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dirty="0">
                <a:gradFill flip="none" rotWithShape="1">
                  <a:gsLst>
                    <a:gs pos="0">
                      <a:schemeClr val="accent2"/>
                    </a:gs>
                    <a:gs pos="20000">
                      <a:schemeClr val="accent5">
                        <a:lumMod val="60000"/>
                        <a:lumOff val="40000"/>
                      </a:schemeClr>
                    </a:gs>
                    <a:gs pos="83000">
                      <a:schemeClr val="accent4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</a:rPr>
              <a:t>Roadmap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4983DD-8B49-5DDA-2A5A-434A7EA5EA09}"/>
              </a:ext>
            </a:extLst>
          </p:cNvPr>
          <p:cNvSpPr/>
          <p:nvPr/>
        </p:nvSpPr>
        <p:spPr>
          <a:xfrm>
            <a:off x="376518" y="5662530"/>
            <a:ext cx="11387314" cy="1121434"/>
          </a:xfrm>
          <a:prstGeom prst="rect">
            <a:avLst/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311494A-039B-0AB3-BC3C-F92ABA7DA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911041"/>
              </p:ext>
            </p:extLst>
          </p:nvPr>
        </p:nvGraphicFramePr>
        <p:xfrm>
          <a:off x="376518" y="2209056"/>
          <a:ext cx="11329147" cy="27278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5944">
                  <a:extLst>
                    <a:ext uri="{9D8B030D-6E8A-4147-A177-3AD203B41FA5}">
                      <a16:colId xmlns:a16="http://schemas.microsoft.com/office/drawing/2014/main" val="949504698"/>
                    </a:ext>
                  </a:extLst>
                </a:gridCol>
                <a:gridCol w="9053203">
                  <a:extLst>
                    <a:ext uri="{9D8B030D-6E8A-4147-A177-3AD203B41FA5}">
                      <a16:colId xmlns:a16="http://schemas.microsoft.com/office/drawing/2014/main" val="2994394095"/>
                    </a:ext>
                  </a:extLst>
                </a:gridCol>
              </a:tblGrid>
              <a:tr h="298747">
                <a:tc>
                  <a:txBody>
                    <a:bodyPr/>
                    <a:lstStyle/>
                    <a:p>
                      <a:pPr marL="0" lvl="0" algn="l" defTabSz="914126">
                        <a:buNone/>
                      </a:pPr>
                      <a:r>
                        <a:rPr lang="en-IN" sz="1200" b="1" i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Milestones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0897349"/>
                  </a:ext>
                </a:extLst>
              </a:tr>
              <a:tr h="322730">
                <a:tc>
                  <a:txBody>
                    <a:bodyPr/>
                    <a:lstStyle/>
                    <a:p>
                      <a:pPr marL="0" lvl="0" algn="l" defTabSz="914126">
                        <a:buNone/>
                      </a:pPr>
                      <a:r>
                        <a:rPr lang="en-IN" sz="1200" b="1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1. Planning &amp; Preparation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1593838"/>
                  </a:ext>
                </a:extLst>
              </a:tr>
              <a:tr h="7001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 Migration Execution</a:t>
                      </a:r>
                      <a:endParaRPr lang="en-IN" sz="1200" b="1" i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3855216"/>
                  </a:ext>
                </a:extLst>
              </a:tr>
              <a:tr h="4637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 Downstream Adoption by </a:t>
                      </a:r>
                      <a:r>
                        <a:rPr lang="en-US" sz="1200" b="1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Internal Teams</a:t>
                      </a:r>
                      <a:r>
                        <a:rPr lang="en-US" sz="1200" b="0" i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sz="1200" b="0" i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5767647"/>
                  </a:ext>
                </a:extLst>
              </a:tr>
              <a:tr h="4765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4. Downstream Adoption by Consumers</a:t>
                      </a:r>
                      <a:endParaRPr lang="en-IN" sz="1200" b="1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2909335"/>
                  </a:ext>
                </a:extLst>
              </a:tr>
              <a:tr h="4659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5. Legacy System </a:t>
                      </a:r>
                      <a:endParaRPr lang="en-IN" sz="1200" b="1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5464886"/>
                  </a:ext>
                </a:extLst>
              </a:tr>
            </a:tbl>
          </a:graphicData>
        </a:graphic>
      </p:graphicFrame>
      <p:sp>
        <p:nvSpPr>
          <p:cNvPr id="8" name="Arrow: Pentagon 7">
            <a:extLst>
              <a:ext uri="{FF2B5EF4-FFF2-40B4-BE49-F238E27FC236}">
                <a16:creationId xmlns:a16="http://schemas.microsoft.com/office/drawing/2014/main" id="{E64A57D9-24DB-632F-3233-1F9D89156C98}"/>
              </a:ext>
            </a:extLst>
          </p:cNvPr>
          <p:cNvSpPr/>
          <p:nvPr/>
        </p:nvSpPr>
        <p:spPr>
          <a:xfrm>
            <a:off x="2660049" y="2535310"/>
            <a:ext cx="768952" cy="277525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Plan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E30BB65E-2350-C089-BBCC-3BA6221F2E97}"/>
              </a:ext>
            </a:extLst>
          </p:cNvPr>
          <p:cNvSpPr/>
          <p:nvPr/>
        </p:nvSpPr>
        <p:spPr>
          <a:xfrm>
            <a:off x="3429001" y="2849075"/>
            <a:ext cx="2652058" cy="309307"/>
          </a:xfrm>
          <a:prstGeom prst="homePlat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Wave 1 Migration Dev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3D9099B3-5273-B16A-09FD-9B1DE006A274}"/>
              </a:ext>
            </a:extLst>
          </p:cNvPr>
          <p:cNvSpPr/>
          <p:nvPr/>
        </p:nvSpPr>
        <p:spPr>
          <a:xfrm>
            <a:off x="6149042" y="2848996"/>
            <a:ext cx="1213985" cy="288990"/>
          </a:xfrm>
          <a:prstGeom prst="homePlat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bg1"/>
                </a:solidFill>
              </a:rPr>
              <a:t>UAT</a:t>
            </a:r>
            <a:endParaRPr lang="en-IN" sz="1100">
              <a:solidFill>
                <a:schemeClr val="bg1"/>
              </a:solidFill>
            </a:endParaRP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7C76C5FD-6110-10B1-C9C1-BBAAF94D95DF}"/>
              </a:ext>
            </a:extLst>
          </p:cNvPr>
          <p:cNvSpPr/>
          <p:nvPr/>
        </p:nvSpPr>
        <p:spPr>
          <a:xfrm>
            <a:off x="4610921" y="3195239"/>
            <a:ext cx="1479956" cy="308313"/>
          </a:xfrm>
          <a:prstGeom prst="homePlat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User Guide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EFD53E72-A075-EA31-1794-3B956F13BA20}"/>
              </a:ext>
            </a:extLst>
          </p:cNvPr>
          <p:cNvSpPr/>
          <p:nvPr/>
        </p:nvSpPr>
        <p:spPr>
          <a:xfrm>
            <a:off x="4655919" y="3586130"/>
            <a:ext cx="1466677" cy="368922"/>
          </a:xfrm>
          <a:prstGeom prst="homePlate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US" sz="1000">
                <a:solidFill>
                  <a:schemeClr val="bg1"/>
                </a:solidFill>
              </a:rPr>
              <a:t>Downstream Impact Assessment &amp; Dev</a:t>
            </a:r>
            <a:endParaRPr lang="en-IN" sz="1000">
              <a:solidFill>
                <a:schemeClr val="bg1"/>
              </a:solidFill>
            </a:endParaRP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4AB33953-4605-6989-687A-207BC7B705EE}"/>
              </a:ext>
            </a:extLst>
          </p:cNvPr>
          <p:cNvSpPr/>
          <p:nvPr/>
        </p:nvSpPr>
        <p:spPr>
          <a:xfrm>
            <a:off x="6120561" y="3628180"/>
            <a:ext cx="1213200" cy="277525"/>
          </a:xfrm>
          <a:prstGeom prst="homePlate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bg1"/>
                </a:solidFill>
              </a:rPr>
              <a:t>UAT</a:t>
            </a:r>
            <a:endParaRPr lang="en-IN" sz="1100">
              <a:solidFill>
                <a:schemeClr val="bg1"/>
              </a:solidFill>
            </a:endParaRP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0E8DF9D0-A23E-10E4-F28F-9A803767A939}"/>
              </a:ext>
            </a:extLst>
          </p:cNvPr>
          <p:cNvSpPr/>
          <p:nvPr/>
        </p:nvSpPr>
        <p:spPr>
          <a:xfrm>
            <a:off x="6136786" y="4090404"/>
            <a:ext cx="1213200" cy="277525"/>
          </a:xfrm>
          <a:prstGeom prst="homePlate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bg1"/>
                </a:solidFill>
              </a:rPr>
              <a:t>UAT</a:t>
            </a:r>
            <a:endParaRPr lang="en-IN" sz="1100">
              <a:solidFill>
                <a:schemeClr val="bg1"/>
              </a:solidFill>
            </a:endParaRP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3D131A4D-AFEB-2501-AF56-3B0000E99A6F}"/>
              </a:ext>
            </a:extLst>
          </p:cNvPr>
          <p:cNvSpPr/>
          <p:nvPr/>
        </p:nvSpPr>
        <p:spPr>
          <a:xfrm>
            <a:off x="6031576" y="5159588"/>
            <a:ext cx="2713506" cy="332674"/>
          </a:xfrm>
          <a:prstGeom prst="homePlat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Office Hours for Migration Support</a:t>
            </a:r>
            <a:endParaRPr kumimoji="0" lang="en-IN" sz="110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8FACFD-C20A-3190-4A07-7EBEB0C64AD7}"/>
              </a:ext>
            </a:extLst>
          </p:cNvPr>
          <p:cNvSpPr txBox="1"/>
          <p:nvPr/>
        </p:nvSpPr>
        <p:spPr>
          <a:xfrm>
            <a:off x="2519237" y="1062141"/>
            <a:ext cx="1819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Calibri"/>
                <a:cs typeface="Arial" pitchFamily="34" charset="0"/>
              </a:rPr>
              <a:t>Dev Start</a:t>
            </a:r>
          </a:p>
          <a:p>
            <a:pPr algn="ctr">
              <a:defRPr/>
            </a:pPr>
            <a:r>
              <a:rPr lang="en-US" sz="1200" dirty="0">
                <a:solidFill>
                  <a:schemeClr val="bg1"/>
                </a:solidFill>
                <a:latin typeface="Calibri"/>
                <a:cs typeface="Arial" pitchFamily="34" charset="0"/>
              </a:rPr>
              <a:t>(06/23)</a:t>
            </a:r>
            <a:endParaRPr lang="en-IN" sz="1200" dirty="0">
              <a:solidFill>
                <a:schemeClr val="bg1"/>
              </a:solidFill>
              <a:latin typeface="Calibri"/>
              <a:cs typeface="Arial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67D6978-7F42-2012-2FA6-BF6C9A79C5F7}"/>
              </a:ext>
            </a:extLst>
          </p:cNvPr>
          <p:cNvGrpSpPr/>
          <p:nvPr/>
        </p:nvGrpSpPr>
        <p:grpSpPr>
          <a:xfrm>
            <a:off x="3429001" y="1546331"/>
            <a:ext cx="113066" cy="1580189"/>
            <a:chOff x="3381936" y="1653988"/>
            <a:chExt cx="113066" cy="1580189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BF1AABA-2408-0C80-EF84-F0A3A0E628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1936" y="1653988"/>
              <a:ext cx="0" cy="15801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660A3CD7-284A-D602-0991-1A64F0E34B2A}"/>
                </a:ext>
              </a:extLst>
            </p:cNvPr>
            <p:cNvSpPr/>
            <p:nvPr/>
          </p:nvSpPr>
          <p:spPr>
            <a:xfrm rot="5400000">
              <a:off x="3384922" y="1664449"/>
              <a:ext cx="108744" cy="11141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C6F5446-6A28-62E4-01C0-D2AC7D78BA5E}"/>
              </a:ext>
            </a:extLst>
          </p:cNvPr>
          <p:cNvGrpSpPr/>
          <p:nvPr/>
        </p:nvGrpSpPr>
        <p:grpSpPr>
          <a:xfrm>
            <a:off x="6085542" y="1820353"/>
            <a:ext cx="113066" cy="2798639"/>
            <a:chOff x="3381936" y="1653988"/>
            <a:chExt cx="113066" cy="2798639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9E88889-A1D1-6971-860F-C6666C0B00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1936" y="1653988"/>
              <a:ext cx="0" cy="27986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169BA160-2A55-3F48-19AB-37F2A647DD0F}"/>
                </a:ext>
              </a:extLst>
            </p:cNvPr>
            <p:cNvSpPr/>
            <p:nvPr/>
          </p:nvSpPr>
          <p:spPr>
            <a:xfrm rot="5400000">
              <a:off x="3384922" y="1664449"/>
              <a:ext cx="108744" cy="11141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9FDF11D-6E97-6C2B-AD20-A459514FFE98}"/>
              </a:ext>
            </a:extLst>
          </p:cNvPr>
          <p:cNvSpPr txBox="1"/>
          <p:nvPr/>
        </p:nvSpPr>
        <p:spPr>
          <a:xfrm>
            <a:off x="5604439" y="1327758"/>
            <a:ext cx="1043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Calibri"/>
                <a:cs typeface="Arial" pitchFamily="34" charset="0"/>
              </a:rPr>
              <a:t>UAT Start</a:t>
            </a:r>
          </a:p>
          <a:p>
            <a:pPr algn="ctr">
              <a:defRPr/>
            </a:pPr>
            <a:r>
              <a:rPr lang="en-US" sz="1200" dirty="0">
                <a:solidFill>
                  <a:schemeClr val="bg1"/>
                </a:solidFill>
                <a:latin typeface="Calibri"/>
                <a:cs typeface="Arial" pitchFamily="34" charset="0"/>
              </a:rPr>
              <a:t>(09/29)</a:t>
            </a:r>
            <a:endParaRPr lang="en-IN" sz="1200" dirty="0">
              <a:solidFill>
                <a:schemeClr val="bg1"/>
              </a:solidFill>
              <a:latin typeface="Calibri"/>
              <a:cs typeface="Arial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A54D074-B56D-9096-0FF6-619BCCDD240F}"/>
              </a:ext>
            </a:extLst>
          </p:cNvPr>
          <p:cNvGrpSpPr/>
          <p:nvPr/>
        </p:nvGrpSpPr>
        <p:grpSpPr>
          <a:xfrm>
            <a:off x="7364143" y="1807874"/>
            <a:ext cx="113066" cy="2798639"/>
            <a:chOff x="3381936" y="1653988"/>
            <a:chExt cx="113066" cy="2798639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08AE6A5-08E5-7C7C-A3E5-AB992A0F65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1936" y="1653988"/>
              <a:ext cx="0" cy="27986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1AA70A85-14F9-5D94-72F1-851ECABEE569}"/>
                </a:ext>
              </a:extLst>
            </p:cNvPr>
            <p:cNvSpPr/>
            <p:nvPr/>
          </p:nvSpPr>
          <p:spPr>
            <a:xfrm rot="5400000">
              <a:off x="3384922" y="1664449"/>
              <a:ext cx="108744" cy="11141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380A33B-53D2-427D-FD63-CF42A4C1C201}"/>
              </a:ext>
            </a:extLst>
          </p:cNvPr>
          <p:cNvGrpSpPr/>
          <p:nvPr/>
        </p:nvGrpSpPr>
        <p:grpSpPr>
          <a:xfrm>
            <a:off x="7557325" y="1149784"/>
            <a:ext cx="157913" cy="3469208"/>
            <a:chOff x="3381936" y="1653988"/>
            <a:chExt cx="113066" cy="3531507"/>
          </a:xfrm>
          <a:solidFill>
            <a:schemeClr val="accent5">
              <a:lumMod val="40000"/>
              <a:lumOff val="60000"/>
            </a:schemeClr>
          </a:solidFill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04814DD-782D-8151-F9B3-3BBB112AA5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1936" y="1653988"/>
              <a:ext cx="0" cy="3531507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08218528-4C00-C2A6-8D7F-6832DF2EE20C}"/>
                </a:ext>
              </a:extLst>
            </p:cNvPr>
            <p:cNvSpPr/>
            <p:nvPr/>
          </p:nvSpPr>
          <p:spPr>
            <a:xfrm rot="5400000">
              <a:off x="3384922" y="1664449"/>
              <a:ext cx="108744" cy="111417"/>
            </a:xfrm>
            <a:prstGeom prst="triangl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BF863F1D-6564-D48E-3754-185D676FD2F3}"/>
              </a:ext>
            </a:extLst>
          </p:cNvPr>
          <p:cNvSpPr txBox="1"/>
          <p:nvPr/>
        </p:nvSpPr>
        <p:spPr>
          <a:xfrm>
            <a:off x="6997416" y="1352266"/>
            <a:ext cx="787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200" b="1">
                <a:solidFill>
                  <a:schemeClr val="bg1"/>
                </a:solidFill>
                <a:latin typeface="Calibri"/>
                <a:cs typeface="Arial" pitchFamily="34" charset="0"/>
              </a:rPr>
              <a:t>UAT End</a:t>
            </a:r>
          </a:p>
          <a:p>
            <a:pPr algn="ctr">
              <a:defRPr/>
            </a:pPr>
            <a:r>
              <a:rPr lang="en-US" sz="1200">
                <a:solidFill>
                  <a:schemeClr val="bg1"/>
                </a:solidFill>
                <a:latin typeface="Calibri"/>
                <a:cs typeface="Arial" pitchFamily="34" charset="0"/>
              </a:rPr>
              <a:t>(11/05)</a:t>
            </a:r>
            <a:endParaRPr lang="en-IN" sz="1200">
              <a:solidFill>
                <a:schemeClr val="bg1"/>
              </a:solidFill>
              <a:latin typeface="Calibri"/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0CD893-FBF0-99E6-FC7C-EC0EBF86AFBB}"/>
              </a:ext>
            </a:extLst>
          </p:cNvPr>
          <p:cNvSpPr txBox="1"/>
          <p:nvPr/>
        </p:nvSpPr>
        <p:spPr>
          <a:xfrm>
            <a:off x="6917846" y="253690"/>
            <a:ext cx="1271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accent5"/>
                </a:solidFill>
                <a:latin typeface="Calibri"/>
                <a:cs typeface="Arial" pitchFamily="34" charset="0"/>
              </a:rPr>
              <a:t>Wave 1 Production Launch</a:t>
            </a:r>
          </a:p>
          <a:p>
            <a:pPr algn="ctr">
              <a:defRPr/>
            </a:pPr>
            <a:r>
              <a:rPr lang="en-US" sz="1200" dirty="0">
                <a:solidFill>
                  <a:schemeClr val="accent5"/>
                </a:solidFill>
                <a:latin typeface="Calibri"/>
                <a:cs typeface="Arial" pitchFamily="34" charset="0"/>
              </a:rPr>
              <a:t>(11/10)</a:t>
            </a:r>
            <a:endParaRPr lang="en-IN" sz="1200" dirty="0">
              <a:solidFill>
                <a:schemeClr val="accent5"/>
              </a:solidFill>
              <a:latin typeface="Calibri"/>
              <a:cs typeface="Arial" pitchFamily="34" charset="0"/>
            </a:endParaRPr>
          </a:p>
        </p:txBody>
      </p:sp>
      <p:sp>
        <p:nvSpPr>
          <p:cNvPr id="35" name="Arrow: Pentagon 34">
            <a:extLst>
              <a:ext uri="{FF2B5EF4-FFF2-40B4-BE49-F238E27FC236}">
                <a16:creationId xmlns:a16="http://schemas.microsoft.com/office/drawing/2014/main" id="{FBDB345A-C531-572F-8199-D996A9B378CA}"/>
              </a:ext>
            </a:extLst>
          </p:cNvPr>
          <p:cNvSpPr/>
          <p:nvPr/>
        </p:nvSpPr>
        <p:spPr>
          <a:xfrm>
            <a:off x="7390668" y="2852791"/>
            <a:ext cx="179344" cy="277525"/>
          </a:xfrm>
          <a:prstGeom prst="homePlat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100">
              <a:solidFill>
                <a:schemeClr val="bg1"/>
              </a:solidFill>
            </a:endParaRPr>
          </a:p>
        </p:txBody>
      </p:sp>
      <p:sp>
        <p:nvSpPr>
          <p:cNvPr id="36" name="Arrow: Pentagon 35">
            <a:extLst>
              <a:ext uri="{FF2B5EF4-FFF2-40B4-BE49-F238E27FC236}">
                <a16:creationId xmlns:a16="http://schemas.microsoft.com/office/drawing/2014/main" id="{DC6501CF-D7F8-2408-3337-BA00B17AAF01}"/>
              </a:ext>
            </a:extLst>
          </p:cNvPr>
          <p:cNvSpPr/>
          <p:nvPr/>
        </p:nvSpPr>
        <p:spPr>
          <a:xfrm>
            <a:off x="7387210" y="3628180"/>
            <a:ext cx="179345" cy="277525"/>
          </a:xfrm>
          <a:prstGeom prst="homePlate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100">
              <a:solidFill>
                <a:schemeClr val="bg1"/>
              </a:solidFill>
            </a:endParaRPr>
          </a:p>
        </p:txBody>
      </p:sp>
      <p:sp>
        <p:nvSpPr>
          <p:cNvPr id="37" name="Arrow: Pentagon 36">
            <a:extLst>
              <a:ext uri="{FF2B5EF4-FFF2-40B4-BE49-F238E27FC236}">
                <a16:creationId xmlns:a16="http://schemas.microsoft.com/office/drawing/2014/main" id="{5FD9E15A-2171-8202-866F-E1593F089441}"/>
              </a:ext>
            </a:extLst>
          </p:cNvPr>
          <p:cNvSpPr/>
          <p:nvPr/>
        </p:nvSpPr>
        <p:spPr>
          <a:xfrm>
            <a:off x="7390142" y="4090843"/>
            <a:ext cx="178938" cy="277525"/>
          </a:xfrm>
          <a:prstGeom prst="homePlate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100">
              <a:solidFill>
                <a:schemeClr val="bg1"/>
              </a:solidFill>
            </a:endParaRPr>
          </a:p>
        </p:txBody>
      </p:sp>
      <p:sp>
        <p:nvSpPr>
          <p:cNvPr id="38" name="Arrow: Pentagon 37">
            <a:extLst>
              <a:ext uri="{FF2B5EF4-FFF2-40B4-BE49-F238E27FC236}">
                <a16:creationId xmlns:a16="http://schemas.microsoft.com/office/drawing/2014/main" id="{35646C3F-FBA7-FAA1-DB07-16FC089DA2BA}"/>
              </a:ext>
            </a:extLst>
          </p:cNvPr>
          <p:cNvSpPr/>
          <p:nvPr/>
        </p:nvSpPr>
        <p:spPr>
          <a:xfrm>
            <a:off x="7566555" y="4465912"/>
            <a:ext cx="1083748" cy="471003"/>
          </a:xfrm>
          <a:prstGeom prst="homePlat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>
                <a:solidFill>
                  <a:schemeClr val="bg1"/>
                </a:solidFill>
              </a:rPr>
              <a:t>Legacy Lights-On mode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A401A31-B764-71C8-541E-D07EC8D2AE97}"/>
              </a:ext>
            </a:extLst>
          </p:cNvPr>
          <p:cNvGrpSpPr/>
          <p:nvPr/>
        </p:nvGrpSpPr>
        <p:grpSpPr>
          <a:xfrm>
            <a:off x="8632015" y="1817814"/>
            <a:ext cx="113066" cy="3276677"/>
            <a:chOff x="3381936" y="1653988"/>
            <a:chExt cx="113066" cy="3276677"/>
          </a:xfrm>
          <a:solidFill>
            <a:schemeClr val="accent1"/>
          </a:solidFill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3E40079-B7E7-1AC5-654B-4045218801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1936" y="1653988"/>
              <a:ext cx="0" cy="3276677"/>
            </a:xfrm>
            <a:prstGeom prst="line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6A5F9905-2326-F63C-6029-918AEA0E15AA}"/>
                </a:ext>
              </a:extLst>
            </p:cNvPr>
            <p:cNvSpPr/>
            <p:nvPr/>
          </p:nvSpPr>
          <p:spPr>
            <a:xfrm rot="5400000">
              <a:off x="3384922" y="1664449"/>
              <a:ext cx="108744" cy="111417"/>
            </a:xfrm>
            <a:prstGeom prst="triangle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0F3A8D1-2482-CA9F-EC0D-872C289CEE67}"/>
              </a:ext>
            </a:extLst>
          </p:cNvPr>
          <p:cNvSpPr txBox="1"/>
          <p:nvPr/>
        </p:nvSpPr>
        <p:spPr>
          <a:xfrm>
            <a:off x="8021281" y="598867"/>
            <a:ext cx="1271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Calibri"/>
                <a:cs typeface="Arial" pitchFamily="34" charset="0"/>
              </a:rPr>
              <a:t>Remove </a:t>
            </a:r>
          </a:p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Calibri"/>
                <a:cs typeface="Arial" pitchFamily="34" charset="0"/>
              </a:rPr>
              <a:t>Downstream Access </a:t>
            </a:r>
          </a:p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Calibri"/>
                <a:cs typeface="Arial" pitchFamily="34" charset="0"/>
              </a:rPr>
              <a:t>to Legacy Systems</a:t>
            </a:r>
          </a:p>
          <a:p>
            <a:pPr algn="ctr">
              <a:defRPr/>
            </a:pPr>
            <a:r>
              <a:rPr lang="en-US" sz="1200" dirty="0">
                <a:solidFill>
                  <a:schemeClr val="bg1"/>
                </a:solidFill>
                <a:latin typeface="Calibri"/>
                <a:cs typeface="Arial" pitchFamily="34" charset="0"/>
              </a:rPr>
              <a:t>(12/15)</a:t>
            </a:r>
            <a:endParaRPr lang="en-IN" sz="1200" dirty="0">
              <a:solidFill>
                <a:schemeClr val="bg1"/>
              </a:solidFill>
              <a:latin typeface="Calibri"/>
              <a:cs typeface="Arial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52BDFD7-DA2F-557D-4BE5-50C2D0BD4720}"/>
              </a:ext>
            </a:extLst>
          </p:cNvPr>
          <p:cNvGrpSpPr/>
          <p:nvPr/>
        </p:nvGrpSpPr>
        <p:grpSpPr>
          <a:xfrm>
            <a:off x="9268168" y="1824458"/>
            <a:ext cx="113066" cy="3276677"/>
            <a:chOff x="3381936" y="1653988"/>
            <a:chExt cx="113066" cy="3276677"/>
          </a:xfrm>
          <a:solidFill>
            <a:schemeClr val="accent1"/>
          </a:solidFill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3BD4CF1-5903-AAF4-0526-593C4085B1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1936" y="1653988"/>
              <a:ext cx="0" cy="3276677"/>
            </a:xfrm>
            <a:prstGeom prst="line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CC9DDE94-B941-2D8C-F5A8-2B8E7A2DCA20}"/>
                </a:ext>
              </a:extLst>
            </p:cNvPr>
            <p:cNvSpPr/>
            <p:nvPr/>
          </p:nvSpPr>
          <p:spPr>
            <a:xfrm rot="5400000">
              <a:off x="3384922" y="1664449"/>
              <a:ext cx="108744" cy="111417"/>
            </a:xfrm>
            <a:prstGeom prst="triangle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1E70BEE2-9B21-2DF9-9E74-14B8E57E94DC}"/>
              </a:ext>
            </a:extLst>
          </p:cNvPr>
          <p:cNvSpPr txBox="1"/>
          <p:nvPr/>
        </p:nvSpPr>
        <p:spPr>
          <a:xfrm>
            <a:off x="8927467" y="962379"/>
            <a:ext cx="837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Calibri"/>
                <a:cs typeface="Arial" pitchFamily="34" charset="0"/>
              </a:rPr>
              <a:t>Retire </a:t>
            </a:r>
          </a:p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Calibri"/>
                <a:cs typeface="Arial" pitchFamily="34" charset="0"/>
              </a:rPr>
              <a:t>Legacy </a:t>
            </a:r>
          </a:p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Calibri"/>
                <a:cs typeface="Arial" pitchFamily="34" charset="0"/>
              </a:rPr>
              <a:t>Systems</a:t>
            </a:r>
          </a:p>
          <a:p>
            <a:pPr algn="ctr">
              <a:defRPr/>
            </a:pPr>
            <a:r>
              <a:rPr lang="en-US" sz="1200" dirty="0">
                <a:solidFill>
                  <a:schemeClr val="bg1"/>
                </a:solidFill>
                <a:latin typeface="Calibri"/>
                <a:cs typeface="Arial" pitchFamily="34" charset="0"/>
              </a:rPr>
              <a:t>(01/05)</a:t>
            </a:r>
            <a:endParaRPr lang="en-IN" sz="1200" dirty="0">
              <a:solidFill>
                <a:schemeClr val="bg1"/>
              </a:solidFill>
              <a:latin typeface="Calibri"/>
              <a:cs typeface="Arial" pitchFamily="34" charset="0"/>
            </a:endParaRPr>
          </a:p>
        </p:txBody>
      </p:sp>
      <p:sp>
        <p:nvSpPr>
          <p:cNvPr id="47" name="Arrow: Pentagon 46">
            <a:extLst>
              <a:ext uri="{FF2B5EF4-FFF2-40B4-BE49-F238E27FC236}">
                <a16:creationId xmlns:a16="http://schemas.microsoft.com/office/drawing/2014/main" id="{564D85FF-B156-BBBF-1C09-C15CE4080C6E}"/>
              </a:ext>
            </a:extLst>
          </p:cNvPr>
          <p:cNvSpPr/>
          <p:nvPr/>
        </p:nvSpPr>
        <p:spPr>
          <a:xfrm>
            <a:off x="4660505" y="4041985"/>
            <a:ext cx="1450351" cy="374364"/>
          </a:xfrm>
          <a:prstGeom prst="homePlate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US" sz="1000">
                <a:solidFill>
                  <a:schemeClr val="bg1"/>
                </a:solidFill>
              </a:rPr>
              <a:t>Downstream Impact Assessment &amp; Dev</a:t>
            </a:r>
            <a:endParaRPr lang="en-IN" sz="1000">
              <a:solidFill>
                <a:schemeClr val="bg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5EAFC65-20BA-5D00-BAB0-44F16F8AAB98}"/>
              </a:ext>
            </a:extLst>
          </p:cNvPr>
          <p:cNvGrpSpPr/>
          <p:nvPr/>
        </p:nvGrpSpPr>
        <p:grpSpPr>
          <a:xfrm>
            <a:off x="526200" y="6377691"/>
            <a:ext cx="5203683" cy="261610"/>
            <a:chOff x="413208" y="5920696"/>
            <a:chExt cx="5203683" cy="261610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5ABA561-2272-8F45-C1E4-1F99DC964888}"/>
                </a:ext>
              </a:extLst>
            </p:cNvPr>
            <p:cNvSpPr txBox="1"/>
            <p:nvPr/>
          </p:nvSpPr>
          <p:spPr>
            <a:xfrm>
              <a:off x="621648" y="5920696"/>
              <a:ext cx="499524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Monthly Communications to Stakeholders &amp; Downstream Users.</a:t>
              </a:r>
              <a:endParaRPr kumimoji="0" lang="en-IN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Star: 5 Points 49">
              <a:extLst>
                <a:ext uri="{FF2B5EF4-FFF2-40B4-BE49-F238E27FC236}">
                  <a16:creationId xmlns:a16="http://schemas.microsoft.com/office/drawing/2014/main" id="{B62ED896-BCA1-B13F-E90A-9715579E9D10}"/>
                </a:ext>
              </a:extLst>
            </p:cNvPr>
            <p:cNvSpPr/>
            <p:nvPr/>
          </p:nvSpPr>
          <p:spPr>
            <a:xfrm>
              <a:off x="413208" y="5936658"/>
              <a:ext cx="195032" cy="186876"/>
            </a:xfrm>
            <a:prstGeom prst="star5">
              <a:avLst/>
            </a:prstGeom>
            <a:solidFill>
              <a:srgbClr val="92D050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CC2FCBA-DEB0-8A14-22E6-22BBDA30B964}"/>
              </a:ext>
            </a:extLst>
          </p:cNvPr>
          <p:cNvGrpSpPr/>
          <p:nvPr/>
        </p:nvGrpSpPr>
        <p:grpSpPr>
          <a:xfrm>
            <a:off x="526637" y="5730420"/>
            <a:ext cx="5197018" cy="600164"/>
            <a:chOff x="507338" y="6215820"/>
            <a:chExt cx="5197018" cy="600164"/>
          </a:xfrm>
        </p:grpSpPr>
        <p:sp>
          <p:nvSpPr>
            <p:cNvPr id="52" name="Arrow: Pentagon 51">
              <a:extLst>
                <a:ext uri="{FF2B5EF4-FFF2-40B4-BE49-F238E27FC236}">
                  <a16:creationId xmlns:a16="http://schemas.microsoft.com/office/drawing/2014/main" id="{34FD437F-8CFD-BCF4-6578-0AA5D1D08C0A}"/>
                </a:ext>
              </a:extLst>
            </p:cNvPr>
            <p:cNvSpPr/>
            <p:nvPr/>
          </p:nvSpPr>
          <p:spPr>
            <a:xfrm>
              <a:off x="507338" y="6363692"/>
              <a:ext cx="208440" cy="277525"/>
            </a:xfrm>
            <a:prstGeom prst="homePlat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IN" sz="1100">
                <a:solidFill>
                  <a:schemeClr val="bg1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F4F3BFC-9F36-65CF-6E59-2485AFCBA28B}"/>
                </a:ext>
              </a:extLst>
            </p:cNvPr>
            <p:cNvSpPr txBox="1"/>
            <p:nvPr/>
          </p:nvSpPr>
          <p:spPr>
            <a:xfrm>
              <a:off x="709113" y="6215820"/>
              <a:ext cx="499524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1100" dirty="0">
                  <a:solidFill>
                    <a:schemeClr val="bg1"/>
                  </a:solidFill>
                </a:rPr>
                <a:t>Wave 1 includes: &lt;&lt;Domain subject area or sub tracks&gt;&gt;. The user guide will cover new connection strings and schema change list for Wave 1 data endpoints (SQL &amp; Semantic Models).</a:t>
              </a:r>
              <a:endParaRPr lang="en-IN" sz="1100" kern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4D146B3-A480-433B-0576-59F90DA97C16}"/>
              </a:ext>
            </a:extLst>
          </p:cNvPr>
          <p:cNvGrpSpPr/>
          <p:nvPr/>
        </p:nvGrpSpPr>
        <p:grpSpPr>
          <a:xfrm>
            <a:off x="5823136" y="5748266"/>
            <a:ext cx="5940696" cy="430887"/>
            <a:chOff x="5932166" y="5873389"/>
            <a:chExt cx="5940696" cy="430887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F74B945-79ED-DEED-9A82-C348B68C4FA2}"/>
                </a:ext>
              </a:extLst>
            </p:cNvPr>
            <p:cNvGrpSpPr/>
            <p:nvPr/>
          </p:nvGrpSpPr>
          <p:grpSpPr>
            <a:xfrm>
              <a:off x="5932166" y="5873389"/>
              <a:ext cx="5940696" cy="430887"/>
              <a:chOff x="507338" y="6278206"/>
              <a:chExt cx="5940696" cy="430887"/>
            </a:xfrm>
          </p:grpSpPr>
          <p:sp>
            <p:nvSpPr>
              <p:cNvPr id="57" name="Arrow: Pentagon 56">
                <a:extLst>
                  <a:ext uri="{FF2B5EF4-FFF2-40B4-BE49-F238E27FC236}">
                    <a16:creationId xmlns:a16="http://schemas.microsoft.com/office/drawing/2014/main" id="{8F7F56C8-3D8B-1EE3-84B1-F82230257A77}"/>
                  </a:ext>
                </a:extLst>
              </p:cNvPr>
              <p:cNvSpPr/>
              <p:nvPr/>
            </p:nvSpPr>
            <p:spPr>
              <a:xfrm>
                <a:off x="507338" y="6377140"/>
                <a:ext cx="208440" cy="277525"/>
              </a:xfrm>
              <a:prstGeom prst="homePlat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n-IN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23AAAA5-1E19-DF17-95C2-117AAE63F32E}"/>
                  </a:ext>
                </a:extLst>
              </p:cNvPr>
              <p:cNvSpPr txBox="1"/>
              <p:nvPr/>
            </p:nvSpPr>
            <p:spPr>
              <a:xfrm>
                <a:off x="936924" y="6278206"/>
                <a:ext cx="5511110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100" b="0" i="0" dirty="0">
                    <a:solidFill>
                      <a:schemeClr val="bg1"/>
                    </a:solidFill>
                    <a:effectLst/>
                  </a:rPr>
                  <a:t>Downstream Teams will need to rewire their current data pipelines or reports to pull from new data endpoints.</a:t>
                </a:r>
                <a:endParaRPr kumimoji="0" lang="en-IN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56" name="Arrow: Pentagon 55">
              <a:extLst>
                <a:ext uri="{FF2B5EF4-FFF2-40B4-BE49-F238E27FC236}">
                  <a16:creationId xmlns:a16="http://schemas.microsoft.com/office/drawing/2014/main" id="{0F2D9D56-2BC7-21D3-9DD5-880FA6ECBEFD}"/>
                </a:ext>
              </a:extLst>
            </p:cNvPr>
            <p:cNvSpPr/>
            <p:nvPr/>
          </p:nvSpPr>
          <p:spPr>
            <a:xfrm>
              <a:off x="6181920" y="5965292"/>
              <a:ext cx="208440" cy="277525"/>
            </a:xfrm>
            <a:prstGeom prst="homePlat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IN" sz="1100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0AD48D1-9A86-8199-4B65-29AFADB0DA07}"/>
              </a:ext>
            </a:extLst>
          </p:cNvPr>
          <p:cNvGrpSpPr/>
          <p:nvPr/>
        </p:nvGrpSpPr>
        <p:grpSpPr>
          <a:xfrm>
            <a:off x="6070175" y="6271647"/>
            <a:ext cx="5690044" cy="430887"/>
            <a:chOff x="507338" y="6292935"/>
            <a:chExt cx="5690044" cy="430887"/>
          </a:xfrm>
        </p:grpSpPr>
        <p:sp>
          <p:nvSpPr>
            <p:cNvPr id="60" name="Arrow: Pentagon 59">
              <a:extLst>
                <a:ext uri="{FF2B5EF4-FFF2-40B4-BE49-F238E27FC236}">
                  <a16:creationId xmlns:a16="http://schemas.microsoft.com/office/drawing/2014/main" id="{CC86FCD9-7369-1CD1-2F37-21C7371144E7}"/>
                </a:ext>
              </a:extLst>
            </p:cNvPr>
            <p:cNvSpPr/>
            <p:nvPr/>
          </p:nvSpPr>
          <p:spPr>
            <a:xfrm>
              <a:off x="507338" y="6377140"/>
              <a:ext cx="208440" cy="277525"/>
            </a:xfrm>
            <a:prstGeom prst="homePlat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IN" sz="1100">
                <a:solidFill>
                  <a:schemeClr val="bg1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52DC331-3682-D8BA-FC11-76AF57091166}"/>
                </a:ext>
              </a:extLst>
            </p:cNvPr>
            <p:cNvSpPr txBox="1"/>
            <p:nvPr/>
          </p:nvSpPr>
          <p:spPr>
            <a:xfrm>
              <a:off x="699719" y="6292935"/>
              <a:ext cx="5497663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0" i="0" dirty="0">
                  <a:solidFill>
                    <a:schemeClr val="bg1"/>
                  </a:solidFill>
                  <a:effectLst/>
                </a:rPr>
                <a:t>Wave 1 legacy systems will be in lights-on mode, with no new enhancements or bug fixes. </a:t>
              </a:r>
              <a:r>
                <a:rPr lang="en-US" sz="1100" dirty="0">
                  <a:solidFill>
                    <a:schemeClr val="bg1"/>
                  </a:solidFill>
                </a:rPr>
                <a:t>Only those bugs blocking the data pipeline runs will be addressed.</a:t>
              </a:r>
              <a:endParaRPr lang="en-IN" sz="11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62" name="Diagram 61">
            <a:extLst>
              <a:ext uri="{FF2B5EF4-FFF2-40B4-BE49-F238E27FC236}">
                <a16:creationId xmlns:a16="http://schemas.microsoft.com/office/drawing/2014/main" id="{E39BE1E1-F97B-CF40-08A9-BAF62E02F8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6598339"/>
              </p:ext>
            </p:extLst>
          </p:nvPr>
        </p:nvGraphicFramePr>
        <p:xfrm>
          <a:off x="2642347" y="2203634"/>
          <a:ext cx="9217959" cy="2974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63" name="Group 62">
            <a:extLst>
              <a:ext uri="{FF2B5EF4-FFF2-40B4-BE49-F238E27FC236}">
                <a16:creationId xmlns:a16="http://schemas.microsoft.com/office/drawing/2014/main" id="{4AAB2B60-030D-E9E6-CABC-DCB1E5A09EB8}"/>
              </a:ext>
            </a:extLst>
          </p:cNvPr>
          <p:cNvGrpSpPr/>
          <p:nvPr/>
        </p:nvGrpSpPr>
        <p:grpSpPr>
          <a:xfrm>
            <a:off x="3557973" y="2080935"/>
            <a:ext cx="6441495" cy="203806"/>
            <a:chOff x="3495004" y="1902514"/>
            <a:chExt cx="6441495" cy="203806"/>
          </a:xfrm>
        </p:grpSpPr>
        <p:sp>
          <p:nvSpPr>
            <p:cNvPr id="64" name="Star: 5 Points 63">
              <a:extLst>
                <a:ext uri="{FF2B5EF4-FFF2-40B4-BE49-F238E27FC236}">
                  <a16:creationId xmlns:a16="http://schemas.microsoft.com/office/drawing/2014/main" id="{A4509442-894C-07FE-3BFE-5A74EC1E55B1}"/>
                </a:ext>
              </a:extLst>
            </p:cNvPr>
            <p:cNvSpPr/>
            <p:nvPr/>
          </p:nvSpPr>
          <p:spPr>
            <a:xfrm>
              <a:off x="3495004" y="1903320"/>
              <a:ext cx="195032" cy="186876"/>
            </a:xfrm>
            <a:prstGeom prst="star5">
              <a:avLst/>
            </a:prstGeom>
            <a:solidFill>
              <a:srgbClr val="92D050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Star: 5 Points 64">
              <a:extLst>
                <a:ext uri="{FF2B5EF4-FFF2-40B4-BE49-F238E27FC236}">
                  <a16:creationId xmlns:a16="http://schemas.microsoft.com/office/drawing/2014/main" id="{26218B8D-0287-200C-E530-B3415A6B09EC}"/>
                </a:ext>
              </a:extLst>
            </p:cNvPr>
            <p:cNvSpPr/>
            <p:nvPr/>
          </p:nvSpPr>
          <p:spPr>
            <a:xfrm>
              <a:off x="4477226" y="1909237"/>
              <a:ext cx="195032" cy="186876"/>
            </a:xfrm>
            <a:prstGeom prst="star5">
              <a:avLst/>
            </a:prstGeom>
            <a:solidFill>
              <a:srgbClr val="92D050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Star: 5 Points 65">
              <a:extLst>
                <a:ext uri="{FF2B5EF4-FFF2-40B4-BE49-F238E27FC236}">
                  <a16:creationId xmlns:a16="http://schemas.microsoft.com/office/drawing/2014/main" id="{C90539AE-334B-6414-27F8-1E10F42D52A7}"/>
                </a:ext>
              </a:extLst>
            </p:cNvPr>
            <p:cNvSpPr/>
            <p:nvPr/>
          </p:nvSpPr>
          <p:spPr>
            <a:xfrm>
              <a:off x="5339294" y="1919444"/>
              <a:ext cx="195032" cy="186876"/>
            </a:xfrm>
            <a:prstGeom prst="star5">
              <a:avLst/>
            </a:prstGeom>
            <a:solidFill>
              <a:srgbClr val="92D050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Star: 5 Points 66">
              <a:extLst>
                <a:ext uri="{FF2B5EF4-FFF2-40B4-BE49-F238E27FC236}">
                  <a16:creationId xmlns:a16="http://schemas.microsoft.com/office/drawing/2014/main" id="{6350210F-1D99-694F-AFE1-2D106B793931}"/>
                </a:ext>
              </a:extLst>
            </p:cNvPr>
            <p:cNvSpPr/>
            <p:nvPr/>
          </p:nvSpPr>
          <p:spPr>
            <a:xfrm>
              <a:off x="6257018" y="1918638"/>
              <a:ext cx="195032" cy="186876"/>
            </a:xfrm>
            <a:prstGeom prst="star5">
              <a:avLst/>
            </a:prstGeom>
            <a:solidFill>
              <a:srgbClr val="92D050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Star: 5 Points 67">
              <a:extLst>
                <a:ext uri="{FF2B5EF4-FFF2-40B4-BE49-F238E27FC236}">
                  <a16:creationId xmlns:a16="http://schemas.microsoft.com/office/drawing/2014/main" id="{64D5E82E-B9B3-2B63-CE2F-374DF2CB8225}"/>
                </a:ext>
              </a:extLst>
            </p:cNvPr>
            <p:cNvSpPr/>
            <p:nvPr/>
          </p:nvSpPr>
          <p:spPr>
            <a:xfrm>
              <a:off x="7176265" y="1910044"/>
              <a:ext cx="195032" cy="186876"/>
            </a:xfrm>
            <a:prstGeom prst="star5">
              <a:avLst/>
            </a:prstGeom>
            <a:solidFill>
              <a:srgbClr val="92D050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9" name="Star: 5 Points 68">
              <a:extLst>
                <a:ext uri="{FF2B5EF4-FFF2-40B4-BE49-F238E27FC236}">
                  <a16:creationId xmlns:a16="http://schemas.microsoft.com/office/drawing/2014/main" id="{CCBE921F-1CDB-ED6E-5AB0-30AA3A94828E}"/>
                </a:ext>
              </a:extLst>
            </p:cNvPr>
            <p:cNvSpPr/>
            <p:nvPr/>
          </p:nvSpPr>
          <p:spPr>
            <a:xfrm>
              <a:off x="7923390" y="1915961"/>
              <a:ext cx="195032" cy="186876"/>
            </a:xfrm>
            <a:prstGeom prst="star5">
              <a:avLst/>
            </a:prstGeom>
            <a:solidFill>
              <a:srgbClr val="92D050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0" name="Star: 5 Points 69">
              <a:extLst>
                <a:ext uri="{FF2B5EF4-FFF2-40B4-BE49-F238E27FC236}">
                  <a16:creationId xmlns:a16="http://schemas.microsoft.com/office/drawing/2014/main" id="{E4B4FBA7-CF43-0390-0A2C-8ADC41F9D879}"/>
                </a:ext>
              </a:extLst>
            </p:cNvPr>
            <p:cNvSpPr/>
            <p:nvPr/>
          </p:nvSpPr>
          <p:spPr>
            <a:xfrm>
              <a:off x="8832427" y="1910044"/>
              <a:ext cx="195032" cy="186876"/>
            </a:xfrm>
            <a:prstGeom prst="star5">
              <a:avLst/>
            </a:prstGeom>
            <a:solidFill>
              <a:srgbClr val="92D050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1" name="Star: 5 Points 70">
              <a:extLst>
                <a:ext uri="{FF2B5EF4-FFF2-40B4-BE49-F238E27FC236}">
                  <a16:creationId xmlns:a16="http://schemas.microsoft.com/office/drawing/2014/main" id="{ACF42D16-5908-3620-93F2-80832E11A486}"/>
                </a:ext>
              </a:extLst>
            </p:cNvPr>
            <p:cNvSpPr/>
            <p:nvPr/>
          </p:nvSpPr>
          <p:spPr>
            <a:xfrm>
              <a:off x="9741467" y="1902514"/>
              <a:ext cx="195032" cy="186876"/>
            </a:xfrm>
            <a:prstGeom prst="star5">
              <a:avLst/>
            </a:prstGeom>
            <a:solidFill>
              <a:srgbClr val="92D050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983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9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5A4984-7C39-8618-ED69-735DD8CFA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9">
            <a:extLst>
              <a:ext uri="{FF2B5EF4-FFF2-40B4-BE49-F238E27FC236}">
                <a16:creationId xmlns:a16="http://schemas.microsoft.com/office/drawing/2014/main" id="{D1150883-BF27-D95B-4C9E-45424E2651F5}"/>
              </a:ext>
            </a:extLst>
          </p:cNvPr>
          <p:cNvSpPr txBox="1"/>
          <p:nvPr/>
        </p:nvSpPr>
        <p:spPr>
          <a:xfrm>
            <a:off x="300622" y="182554"/>
            <a:ext cx="4038142" cy="4262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highlight>
                  <a:srgbClr val="00FFFF"/>
                </a:highlight>
                <a:ea typeface="Calibri"/>
                <a:cs typeface="Calibri"/>
              </a:rPr>
              <a:t>Template Slide | Replace with your Org Data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E236CCF-6AD1-930C-F334-68F3886F4CC7}"/>
              </a:ext>
            </a:extLst>
          </p:cNvPr>
          <p:cNvSpPr txBox="1">
            <a:spLocks/>
          </p:cNvSpPr>
          <p:nvPr/>
        </p:nvSpPr>
        <p:spPr>
          <a:xfrm>
            <a:off x="0" y="119056"/>
            <a:ext cx="12192000" cy="647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dirty="0">
                <a:gradFill flip="none" rotWithShape="1">
                  <a:gsLst>
                    <a:gs pos="0">
                      <a:schemeClr val="accent2"/>
                    </a:gs>
                    <a:gs pos="20000">
                      <a:schemeClr val="accent5">
                        <a:lumMod val="60000"/>
                        <a:lumOff val="40000"/>
                      </a:schemeClr>
                    </a:gs>
                    <a:gs pos="83000">
                      <a:schemeClr val="accent4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</a:rPr>
              <a:t>Team Structure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B768F3-BCBD-7B40-8118-DFD65992B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182735"/>
              </p:ext>
            </p:extLst>
          </p:nvPr>
        </p:nvGraphicFramePr>
        <p:xfrm>
          <a:off x="448006" y="1340484"/>
          <a:ext cx="715294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9374">
                  <a:extLst>
                    <a:ext uri="{9D8B030D-6E8A-4147-A177-3AD203B41FA5}">
                      <a16:colId xmlns:a16="http://schemas.microsoft.com/office/drawing/2014/main" val="3574584007"/>
                    </a:ext>
                  </a:extLst>
                </a:gridCol>
                <a:gridCol w="3093570">
                  <a:extLst>
                    <a:ext uri="{9D8B030D-6E8A-4147-A177-3AD203B41FA5}">
                      <a16:colId xmlns:a16="http://schemas.microsoft.com/office/drawing/2014/main" val="30829494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Project Leadership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Contact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002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Project Sponsor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948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Project Owner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466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Architecture &amp; Framework (FW)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023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Project TPM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001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Communication PM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125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Engineering Governance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390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Insights Governance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85315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FD51012-44CF-8C45-354E-E09BE49624C8}"/>
              </a:ext>
            </a:extLst>
          </p:cNvPr>
          <p:cNvSpPr/>
          <p:nvPr/>
        </p:nvSpPr>
        <p:spPr>
          <a:xfrm>
            <a:off x="371059" y="700121"/>
            <a:ext cx="11467588" cy="5808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This project will be executed in six waves (Wave 0 to 5). The project team is classified into two groups: (1) Project Leadership, comprising the Sponsor, Owner, Architect, TPM, Engineering Governance, and Communication PM who oversee all waves, and (2) Wave Team, consisting of the leads and developers for each wave.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9F2BE3E-88DA-2AD3-0BAF-502DE43C978B}"/>
              </a:ext>
            </a:extLst>
          </p:cNvPr>
          <p:cNvGraphicFramePr>
            <a:graphicFrameLocks noGrp="1"/>
          </p:cNvGraphicFramePr>
          <p:nvPr/>
        </p:nvGraphicFramePr>
        <p:xfrm>
          <a:off x="446871" y="3709419"/>
          <a:ext cx="11338114" cy="2076299"/>
        </p:xfrm>
        <a:graphic>
          <a:graphicData uri="http://schemas.openxmlformats.org/drawingml/2006/table">
            <a:tbl>
              <a:tblPr/>
              <a:tblGrid>
                <a:gridCol w="1167244">
                  <a:extLst>
                    <a:ext uri="{9D8B030D-6E8A-4147-A177-3AD203B41FA5}">
                      <a16:colId xmlns:a16="http://schemas.microsoft.com/office/drawing/2014/main" val="2860612205"/>
                    </a:ext>
                  </a:extLst>
                </a:gridCol>
                <a:gridCol w="2888035">
                  <a:extLst>
                    <a:ext uri="{9D8B030D-6E8A-4147-A177-3AD203B41FA5}">
                      <a16:colId xmlns:a16="http://schemas.microsoft.com/office/drawing/2014/main" val="1006396289"/>
                    </a:ext>
                  </a:extLst>
                </a:gridCol>
                <a:gridCol w="3095438">
                  <a:extLst>
                    <a:ext uri="{9D8B030D-6E8A-4147-A177-3AD203B41FA5}">
                      <a16:colId xmlns:a16="http://schemas.microsoft.com/office/drawing/2014/main" val="3145288793"/>
                    </a:ext>
                  </a:extLst>
                </a:gridCol>
                <a:gridCol w="4187397">
                  <a:extLst>
                    <a:ext uri="{9D8B030D-6E8A-4147-A177-3AD203B41FA5}">
                      <a16:colId xmlns:a16="http://schemas.microsoft.com/office/drawing/2014/main" val="2270359406"/>
                    </a:ext>
                  </a:extLst>
                </a:gridCol>
              </a:tblGrid>
              <a:tr h="19947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Wave Team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Track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/>
                        </a:rPr>
                        <a:t>Leads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/>
                        </a:rPr>
                        <a:t>Migration Team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E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348364"/>
                  </a:ext>
                </a:extLst>
              </a:tr>
              <a:tr h="303186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ptos"/>
                        </a:rPr>
                        <a:t>Wave 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Framework &amp; Automations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911481"/>
                  </a:ext>
                </a:extLst>
              </a:tr>
              <a:tr h="30318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Infrastructure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Apto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Apto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348077"/>
                  </a:ext>
                </a:extLst>
              </a:tr>
              <a:tr h="30318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Engineering  Standard &amp; CI/CD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ES" sz="1200" b="0" i="0" u="none" strike="noStrike">
                        <a:solidFill>
                          <a:schemeClr val="bg1"/>
                        </a:solidFill>
                        <a:effectLst/>
                        <a:latin typeface="Apto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Apto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308301"/>
                  </a:ext>
                </a:extLst>
              </a:tr>
              <a:tr h="55499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ptos"/>
                        </a:rPr>
                        <a:t>Wave 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IN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Domain 1-  Track 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en-IN" sz="1200" b="0" i="0" u="none" strike="noStrike" kern="1200">
                        <a:solidFill>
                          <a:schemeClr val="bg1"/>
                        </a:solidFill>
                        <a:effectLst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200" b="0" i="0" u="none" strike="noStrike" noProof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615560"/>
                  </a:ext>
                </a:extLst>
              </a:tr>
              <a:tr h="4122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IN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Domain 1-  Track 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en-IN" sz="1200" b="0" i="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465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65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9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359B7-A871-AB97-FD5E-E2DE31BB8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94A77B5-99F9-2233-6EC1-7DD34A044DD8}"/>
              </a:ext>
            </a:extLst>
          </p:cNvPr>
          <p:cNvSpPr txBox="1">
            <a:spLocks/>
          </p:cNvSpPr>
          <p:nvPr/>
        </p:nvSpPr>
        <p:spPr>
          <a:xfrm>
            <a:off x="0" y="2697156"/>
            <a:ext cx="12192000" cy="647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dirty="0">
                <a:gradFill flip="none" rotWithShape="1">
                  <a:gsLst>
                    <a:gs pos="0">
                      <a:schemeClr val="accent2"/>
                    </a:gs>
                    <a:gs pos="20000">
                      <a:schemeClr val="accent5">
                        <a:lumMod val="60000"/>
                        <a:lumOff val="40000"/>
                      </a:schemeClr>
                    </a:gs>
                    <a:gs pos="83000">
                      <a:schemeClr val="accent4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</a:rPr>
              <a:t>Inventory Summary</a:t>
            </a: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4D94998A-1432-334A-5743-7919CEF85574}"/>
              </a:ext>
            </a:extLst>
          </p:cNvPr>
          <p:cNvSpPr txBox="1"/>
          <p:nvPr/>
        </p:nvSpPr>
        <p:spPr>
          <a:xfrm>
            <a:off x="3796030" y="3344582"/>
            <a:ext cx="4903469" cy="4262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highlight>
                  <a:srgbClr val="00FFFF"/>
                </a:highlight>
                <a:ea typeface="Calibri"/>
                <a:cs typeface="Calibri"/>
              </a:rPr>
              <a:t>Template Slide | Replace with your Org Header Slide</a:t>
            </a:r>
          </a:p>
        </p:txBody>
      </p:sp>
    </p:spTree>
    <p:extLst>
      <p:ext uri="{BB962C8B-B14F-4D97-AF65-F5344CB8AC3E}">
        <p14:creationId xmlns:p14="http://schemas.microsoft.com/office/powerpoint/2010/main" val="143514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9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6CE87-210A-2320-E81F-0FBF9D531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9">
            <a:extLst>
              <a:ext uri="{FF2B5EF4-FFF2-40B4-BE49-F238E27FC236}">
                <a16:creationId xmlns:a16="http://schemas.microsoft.com/office/drawing/2014/main" id="{3C2CA431-42A5-C6B5-982C-D6D0A4800378}"/>
              </a:ext>
            </a:extLst>
          </p:cNvPr>
          <p:cNvSpPr txBox="1"/>
          <p:nvPr/>
        </p:nvSpPr>
        <p:spPr>
          <a:xfrm>
            <a:off x="8145781" y="197409"/>
            <a:ext cx="4038142" cy="4262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highlight>
                  <a:srgbClr val="00FFFF"/>
                </a:highlight>
                <a:ea typeface="Calibri"/>
                <a:cs typeface="Calibri"/>
              </a:rPr>
              <a:t>Template Slide | Replace with your Org Data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FFFFFB-1E58-3BCD-0447-78E721E26598}"/>
              </a:ext>
            </a:extLst>
          </p:cNvPr>
          <p:cNvSpPr txBox="1">
            <a:spLocks/>
          </p:cNvSpPr>
          <p:nvPr/>
        </p:nvSpPr>
        <p:spPr>
          <a:xfrm>
            <a:off x="0" y="119056"/>
            <a:ext cx="12192000" cy="647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dirty="0">
                <a:gradFill flip="none" rotWithShape="1">
                  <a:gsLst>
                    <a:gs pos="0">
                      <a:schemeClr val="accent2"/>
                    </a:gs>
                    <a:gs pos="20000">
                      <a:schemeClr val="accent5">
                        <a:lumMod val="60000"/>
                        <a:lumOff val="40000"/>
                      </a:schemeClr>
                    </a:gs>
                    <a:gs pos="83000">
                      <a:schemeClr val="accent4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</a:rPr>
              <a:t>Data Asset Inventory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EDDE22-B500-3663-A248-717BD7914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583753"/>
              </p:ext>
            </p:extLst>
          </p:nvPr>
        </p:nvGraphicFramePr>
        <p:xfrm>
          <a:off x="354849" y="1525545"/>
          <a:ext cx="11482301" cy="3463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6958">
                  <a:extLst>
                    <a:ext uri="{9D8B030D-6E8A-4147-A177-3AD203B41FA5}">
                      <a16:colId xmlns:a16="http://schemas.microsoft.com/office/drawing/2014/main" val="3819478784"/>
                    </a:ext>
                  </a:extLst>
                </a:gridCol>
                <a:gridCol w="911249">
                  <a:extLst>
                    <a:ext uri="{9D8B030D-6E8A-4147-A177-3AD203B41FA5}">
                      <a16:colId xmlns:a16="http://schemas.microsoft.com/office/drawing/2014/main" val="833994765"/>
                    </a:ext>
                  </a:extLst>
                </a:gridCol>
                <a:gridCol w="1444438">
                  <a:extLst>
                    <a:ext uri="{9D8B030D-6E8A-4147-A177-3AD203B41FA5}">
                      <a16:colId xmlns:a16="http://schemas.microsoft.com/office/drawing/2014/main" val="3525422065"/>
                    </a:ext>
                  </a:extLst>
                </a:gridCol>
                <a:gridCol w="833597">
                  <a:extLst>
                    <a:ext uri="{9D8B030D-6E8A-4147-A177-3AD203B41FA5}">
                      <a16:colId xmlns:a16="http://schemas.microsoft.com/office/drawing/2014/main" val="1188814792"/>
                    </a:ext>
                  </a:extLst>
                </a:gridCol>
                <a:gridCol w="1361105">
                  <a:extLst>
                    <a:ext uri="{9D8B030D-6E8A-4147-A177-3AD203B41FA5}">
                      <a16:colId xmlns:a16="http://schemas.microsoft.com/office/drawing/2014/main" val="1474529260"/>
                    </a:ext>
                  </a:extLst>
                </a:gridCol>
                <a:gridCol w="1177515">
                  <a:extLst>
                    <a:ext uri="{9D8B030D-6E8A-4147-A177-3AD203B41FA5}">
                      <a16:colId xmlns:a16="http://schemas.microsoft.com/office/drawing/2014/main" val="3241970144"/>
                    </a:ext>
                  </a:extLst>
                </a:gridCol>
                <a:gridCol w="810497">
                  <a:extLst>
                    <a:ext uri="{9D8B030D-6E8A-4147-A177-3AD203B41FA5}">
                      <a16:colId xmlns:a16="http://schemas.microsoft.com/office/drawing/2014/main" val="3782740903"/>
                    </a:ext>
                  </a:extLst>
                </a:gridCol>
                <a:gridCol w="968700">
                  <a:extLst>
                    <a:ext uri="{9D8B030D-6E8A-4147-A177-3AD203B41FA5}">
                      <a16:colId xmlns:a16="http://schemas.microsoft.com/office/drawing/2014/main" val="1988913569"/>
                    </a:ext>
                  </a:extLst>
                </a:gridCol>
                <a:gridCol w="1116345">
                  <a:extLst>
                    <a:ext uri="{9D8B030D-6E8A-4147-A177-3AD203B41FA5}">
                      <a16:colId xmlns:a16="http://schemas.microsoft.com/office/drawing/2014/main" val="14613067"/>
                    </a:ext>
                  </a:extLst>
                </a:gridCol>
                <a:gridCol w="994004">
                  <a:extLst>
                    <a:ext uri="{9D8B030D-6E8A-4147-A177-3AD203B41FA5}">
                      <a16:colId xmlns:a16="http://schemas.microsoft.com/office/drawing/2014/main" val="637786158"/>
                    </a:ext>
                  </a:extLst>
                </a:gridCol>
                <a:gridCol w="977893">
                  <a:extLst>
                    <a:ext uri="{9D8B030D-6E8A-4147-A177-3AD203B41FA5}">
                      <a16:colId xmlns:a16="http://schemas.microsoft.com/office/drawing/2014/main" val="2505135827"/>
                    </a:ext>
                  </a:extLst>
                </a:gridCol>
              </a:tblGrid>
              <a:tr h="283624"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Platform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Insights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861403"/>
                  </a:ext>
                </a:extLst>
              </a:tr>
              <a:tr h="467145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Wave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Track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# of Data Sources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# of Spark Notebooks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# of Gold Files in ADLS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# of SQL Views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# of SQL Tabular Models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# of Reporting Views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# Of PBI Semantic Models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# of PBI Reports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465653"/>
                  </a:ext>
                </a:extLst>
              </a:tr>
              <a:tr h="283624"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Wave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Track 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35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48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81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438393"/>
                  </a:ext>
                </a:extLst>
              </a:tr>
              <a:tr h="300308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Domain 1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Track 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79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49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49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735795"/>
                  </a:ext>
                </a:extLst>
              </a:tr>
              <a:tr h="300308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Domain 1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Track 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27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67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836326"/>
                  </a:ext>
                </a:extLst>
              </a:tr>
              <a:tr h="283624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Domain 1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Track 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67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198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161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069680"/>
                  </a:ext>
                </a:extLst>
              </a:tr>
              <a:tr h="283624">
                <a:tc vMerge="1">
                  <a:txBody>
                    <a:bodyPr/>
                    <a:lstStyle/>
                    <a:p>
                      <a:endParaRPr lang="en-US" sz="11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Domain 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Track 5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98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113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115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337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937044"/>
                  </a:ext>
                </a:extLst>
              </a:tr>
              <a:tr h="283624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Wave 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Track 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252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129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46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165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806919"/>
                  </a:ext>
                </a:extLst>
              </a:tr>
              <a:tr h="283624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Wave 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Track 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129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97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924164"/>
                  </a:ext>
                </a:extLst>
              </a:tr>
              <a:tr h="283624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Wave 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Track 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96108"/>
                  </a:ext>
                </a:extLst>
              </a:tr>
              <a:tr h="283624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Wave 5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5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Track 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0998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F45EC969-6920-D637-EB38-C2834C57D03A}"/>
              </a:ext>
            </a:extLst>
          </p:cNvPr>
          <p:cNvSpPr/>
          <p:nvPr/>
        </p:nvSpPr>
        <p:spPr>
          <a:xfrm>
            <a:off x="264768" y="1076722"/>
            <a:ext cx="10816373" cy="305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Following is the count of assets by Domain team as of Month-Year. Refer </a:t>
            </a:r>
            <a:r>
              <a:rPr lang="en-US" sz="1200" dirty="0">
                <a:solidFill>
                  <a:schemeClr val="accent4"/>
                </a:solidFill>
              </a:rPr>
              <a:t>&lt;your inventory worksheet </a:t>
            </a:r>
            <a:r>
              <a:rPr lang="en-US" sz="1200" i="1" dirty="0">
                <a:solidFill>
                  <a:schemeClr val="accent4"/>
                </a:solidFill>
              </a:rPr>
              <a:t>link&gt;</a:t>
            </a:r>
            <a:r>
              <a:rPr lang="en-US" sz="1200" dirty="0">
                <a:solidFill>
                  <a:schemeClr val="accent4"/>
                </a:solidFill>
              </a:rPr>
              <a:t> </a:t>
            </a:r>
            <a:r>
              <a:rPr lang="en-IN" sz="1200" dirty="0">
                <a:solidFill>
                  <a:schemeClr val="bg1"/>
                </a:solidFill>
              </a:rPr>
              <a:t>for </a:t>
            </a:r>
            <a:r>
              <a:rPr lang="en-US" sz="1200" dirty="0">
                <a:solidFill>
                  <a:schemeClr val="bg1"/>
                </a:solidFill>
              </a:rPr>
              <a:t>detailed list. </a:t>
            </a:r>
          </a:p>
        </p:txBody>
      </p:sp>
    </p:spTree>
    <p:extLst>
      <p:ext uri="{BB962C8B-B14F-4D97-AF65-F5344CB8AC3E}">
        <p14:creationId xmlns:p14="http://schemas.microsoft.com/office/powerpoint/2010/main" val="90512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9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56B2F3-24CF-5817-60AC-A85308BB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9">
            <a:extLst>
              <a:ext uri="{FF2B5EF4-FFF2-40B4-BE49-F238E27FC236}">
                <a16:creationId xmlns:a16="http://schemas.microsoft.com/office/drawing/2014/main" id="{4687418F-279C-63F3-D714-F31890993DC3}"/>
              </a:ext>
            </a:extLst>
          </p:cNvPr>
          <p:cNvSpPr txBox="1"/>
          <p:nvPr/>
        </p:nvSpPr>
        <p:spPr>
          <a:xfrm>
            <a:off x="8145781" y="197409"/>
            <a:ext cx="4038142" cy="4262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highlight>
                  <a:srgbClr val="00FFFF"/>
                </a:highlight>
                <a:ea typeface="Calibri"/>
                <a:cs typeface="Calibri"/>
              </a:rPr>
              <a:t>Template Slide | Replace with your Org Data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84B3BD9-35E2-FA0C-2A8D-E079391966C7}"/>
              </a:ext>
            </a:extLst>
          </p:cNvPr>
          <p:cNvSpPr txBox="1">
            <a:spLocks/>
          </p:cNvSpPr>
          <p:nvPr/>
        </p:nvSpPr>
        <p:spPr>
          <a:xfrm>
            <a:off x="0" y="119056"/>
            <a:ext cx="12192000" cy="647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dirty="0">
                <a:gradFill flip="none" rotWithShape="1">
                  <a:gsLst>
                    <a:gs pos="0">
                      <a:schemeClr val="accent2"/>
                    </a:gs>
                    <a:gs pos="20000">
                      <a:schemeClr val="accent5">
                        <a:lumMod val="60000"/>
                        <a:lumOff val="40000"/>
                      </a:schemeClr>
                    </a:gs>
                    <a:gs pos="83000">
                      <a:schemeClr val="accent4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</a:rPr>
              <a:t>Data Pipeline Inventory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5AB8C7-17D3-B9FD-4A92-CD45D1A81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838233"/>
              </p:ext>
            </p:extLst>
          </p:nvPr>
        </p:nvGraphicFramePr>
        <p:xfrm>
          <a:off x="175640" y="1257601"/>
          <a:ext cx="11840719" cy="3407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945">
                  <a:extLst>
                    <a:ext uri="{9D8B030D-6E8A-4147-A177-3AD203B41FA5}">
                      <a16:colId xmlns:a16="http://schemas.microsoft.com/office/drawing/2014/main" val="588633215"/>
                    </a:ext>
                  </a:extLst>
                </a:gridCol>
                <a:gridCol w="792179">
                  <a:extLst>
                    <a:ext uri="{9D8B030D-6E8A-4147-A177-3AD203B41FA5}">
                      <a16:colId xmlns:a16="http://schemas.microsoft.com/office/drawing/2014/main" val="769441680"/>
                    </a:ext>
                  </a:extLst>
                </a:gridCol>
                <a:gridCol w="643011">
                  <a:extLst>
                    <a:ext uri="{9D8B030D-6E8A-4147-A177-3AD203B41FA5}">
                      <a16:colId xmlns:a16="http://schemas.microsoft.com/office/drawing/2014/main" val="2159114811"/>
                    </a:ext>
                  </a:extLst>
                </a:gridCol>
                <a:gridCol w="2292607">
                  <a:extLst>
                    <a:ext uri="{9D8B030D-6E8A-4147-A177-3AD203B41FA5}">
                      <a16:colId xmlns:a16="http://schemas.microsoft.com/office/drawing/2014/main" val="3525422065"/>
                    </a:ext>
                  </a:extLst>
                </a:gridCol>
                <a:gridCol w="1324540">
                  <a:extLst>
                    <a:ext uri="{9D8B030D-6E8A-4147-A177-3AD203B41FA5}">
                      <a16:colId xmlns:a16="http://schemas.microsoft.com/office/drawing/2014/main" val="2537887835"/>
                    </a:ext>
                  </a:extLst>
                </a:gridCol>
                <a:gridCol w="2032154">
                  <a:extLst>
                    <a:ext uri="{9D8B030D-6E8A-4147-A177-3AD203B41FA5}">
                      <a16:colId xmlns:a16="http://schemas.microsoft.com/office/drawing/2014/main" val="1188814792"/>
                    </a:ext>
                  </a:extLst>
                </a:gridCol>
                <a:gridCol w="768375">
                  <a:extLst>
                    <a:ext uri="{9D8B030D-6E8A-4147-A177-3AD203B41FA5}">
                      <a16:colId xmlns:a16="http://schemas.microsoft.com/office/drawing/2014/main" val="1474529260"/>
                    </a:ext>
                  </a:extLst>
                </a:gridCol>
                <a:gridCol w="1125279">
                  <a:extLst>
                    <a:ext uri="{9D8B030D-6E8A-4147-A177-3AD203B41FA5}">
                      <a16:colId xmlns:a16="http://schemas.microsoft.com/office/drawing/2014/main" val="3241970144"/>
                    </a:ext>
                  </a:extLst>
                </a:gridCol>
                <a:gridCol w="2211629">
                  <a:extLst>
                    <a:ext uri="{9D8B030D-6E8A-4147-A177-3AD203B41FA5}">
                      <a16:colId xmlns:a16="http://schemas.microsoft.com/office/drawing/2014/main" val="3782740903"/>
                    </a:ext>
                  </a:extLst>
                </a:gridCol>
              </a:tblGrid>
              <a:tr h="207145"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Average Run Time in Hours by ETL Stage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596583"/>
                  </a:ext>
                </a:extLst>
              </a:tr>
              <a:tr h="207145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Wave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Domain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Track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Job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Refresh Frequency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Average Total Duration (Hours)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Ingestion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Publish (SQL DB/Tabular Model)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465653"/>
                  </a:ext>
                </a:extLst>
              </a:tr>
              <a:tr h="207145">
                <a:tc rowSpan="8"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Wave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Track 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1 - Track 1 - Batch Process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Twice a day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 hours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4.2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0.7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262543"/>
                  </a:ext>
                </a:extLst>
              </a:tr>
              <a:tr h="2071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1 - Track 1 - NRT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 runs a day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 hours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0.27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0.2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1.18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446716"/>
                  </a:ext>
                </a:extLst>
              </a:tr>
              <a:tr h="2071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Track 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1 - Track 2 - Batch Process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Once a day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2 hours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1.58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037841"/>
                  </a:ext>
                </a:extLst>
              </a:tr>
              <a:tr h="2071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Track 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1 - Track 3 - Batch Process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Once a day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 hours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6.05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1.68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812060"/>
                  </a:ext>
                </a:extLst>
              </a:tr>
              <a:tr h="2071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1 - Track 3 - NRT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6 runs </a:t>
                      </a: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a day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2 hours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0.27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0.2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1.18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984274"/>
                  </a:ext>
                </a:extLst>
              </a:tr>
              <a:tr h="2071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1 - Track 3 - Real Time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795097"/>
                  </a:ext>
                </a:extLst>
              </a:tr>
              <a:tr h="2071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Track 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1 - Track 4 - Batch Process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035627"/>
                  </a:ext>
                </a:extLst>
              </a:tr>
              <a:tr h="2071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1 - Track 4 - NRT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286546"/>
                  </a:ext>
                </a:extLst>
              </a:tr>
              <a:tr h="298863">
                <a:tc rowSpan="2"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Wave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Track 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2 - Track 1 - Batch Process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157289"/>
                  </a:ext>
                </a:extLst>
              </a:tr>
              <a:tr h="2071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2 - Track 1 - NRT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523571"/>
                  </a:ext>
                </a:extLst>
              </a:tr>
              <a:tr h="207145"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Wave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Track 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Domain 3 - Track 1 - Batch Process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84506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0F28569-1577-4B75-72FF-F45453578F48}"/>
              </a:ext>
            </a:extLst>
          </p:cNvPr>
          <p:cNvSpPr/>
          <p:nvPr/>
        </p:nvSpPr>
        <p:spPr>
          <a:xfrm>
            <a:off x="119475" y="795936"/>
            <a:ext cx="10548525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Following is the average run time of Data Pipelines jobs by Domain team as of Month-Year. Refer </a:t>
            </a:r>
            <a:r>
              <a:rPr lang="en-US" sz="1200" dirty="0">
                <a:solidFill>
                  <a:schemeClr val="accent4"/>
                </a:solidFill>
              </a:rPr>
              <a:t>&lt; your pipeline inventory worksheet </a:t>
            </a:r>
            <a:r>
              <a:rPr lang="en-US" sz="1200" i="1" dirty="0">
                <a:solidFill>
                  <a:schemeClr val="accent4"/>
                </a:solidFill>
              </a:rPr>
              <a:t>link </a:t>
            </a:r>
            <a:r>
              <a:rPr lang="en-US" sz="1200" dirty="0">
                <a:solidFill>
                  <a:schemeClr val="accent4"/>
                </a:solidFill>
              </a:rPr>
              <a:t>&gt; </a:t>
            </a:r>
            <a:r>
              <a:rPr lang="en-IN" sz="1200" dirty="0">
                <a:solidFill>
                  <a:schemeClr val="bg1"/>
                </a:solidFill>
              </a:rPr>
              <a:t>for </a:t>
            </a:r>
            <a:r>
              <a:rPr lang="en-US" sz="1200" dirty="0">
                <a:solidFill>
                  <a:schemeClr val="bg1"/>
                </a:solidFill>
              </a:rPr>
              <a:t>details list. </a:t>
            </a:r>
          </a:p>
        </p:txBody>
      </p:sp>
    </p:spTree>
    <p:extLst>
      <p:ext uri="{BB962C8B-B14F-4D97-AF65-F5344CB8AC3E}">
        <p14:creationId xmlns:p14="http://schemas.microsoft.com/office/powerpoint/2010/main" val="1734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3_InfosysDefaultTheme">
  <a:themeElements>
    <a:clrScheme name="Accent 7">
      <a:dk1>
        <a:srgbClr val="6D6E71"/>
      </a:dk1>
      <a:lt1>
        <a:sysClr val="window" lastClr="FFFFFF"/>
      </a:lt1>
      <a:dk2>
        <a:srgbClr val="1F9CD7"/>
      </a:dk2>
      <a:lt2>
        <a:srgbClr val="A7A9AC"/>
      </a:lt2>
      <a:accent1>
        <a:srgbClr val="007CC3"/>
      </a:accent1>
      <a:accent2>
        <a:srgbClr val="F15A29"/>
      </a:accent2>
      <a:accent3>
        <a:srgbClr val="6D6E71"/>
      </a:accent3>
      <a:accent4>
        <a:srgbClr val="47BAEB"/>
      </a:accent4>
      <a:accent5>
        <a:srgbClr val="FAA41A"/>
      </a:accent5>
      <a:accent6>
        <a:srgbClr val="3E7D32"/>
      </a:accent6>
      <a:hlink>
        <a:srgbClr val="D2232A"/>
      </a:hlink>
      <a:folHlink>
        <a:srgbClr val="F9DFA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29C77B2C-1714-4F7C-B20E-A6A429DF98C9}" vid="{65CF70F2-D5A2-4905-A4FA-0EFA8BB614D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lcf76f155ced4ddcb4097134ff3c332f xmlns="b9f4746f-eab9-4dbf-84d4-38d6443c0924">
      <Terms xmlns="http://schemas.microsoft.com/office/infopath/2007/PartnerControls"/>
    </lcf76f155ced4ddcb4097134ff3c332f>
    <_Flow_SignoffStatus xmlns="b9f4746f-eab9-4dbf-84d4-38d6443c09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CDE8FF1E05E54A8AA8398D7B32FFCC" ma:contentTypeVersion="22" ma:contentTypeDescription="Create a new document." ma:contentTypeScope="" ma:versionID="b766b6866e363ffc889a8dd363631b11">
  <xsd:schema xmlns:xsd="http://www.w3.org/2001/XMLSchema" xmlns:xs="http://www.w3.org/2001/XMLSchema" xmlns:p="http://schemas.microsoft.com/office/2006/metadata/properties" xmlns:ns1="http://schemas.microsoft.com/sharepoint/v3" xmlns:ns2="b9f4746f-eab9-4dbf-84d4-38d6443c0924" xmlns:ns3="3800f5c7-545f-4bc6-9c67-8302d1f916b9" xmlns:ns4="230e9df3-be65-4c73-a93b-d1236ebd677e" targetNamespace="http://schemas.microsoft.com/office/2006/metadata/properties" ma:root="true" ma:fieldsID="35becdc40d766468462d66711ff424fc" ns1:_="" ns2:_="" ns3:_="" ns4:_="">
    <xsd:import namespace="http://schemas.microsoft.com/sharepoint/v3"/>
    <xsd:import namespace="b9f4746f-eab9-4dbf-84d4-38d6443c0924"/>
    <xsd:import namespace="3800f5c7-545f-4bc6-9c67-8302d1f916b9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ocTags" minOccurs="0"/>
                <xsd:element ref="ns2:MediaServiceDateTaken" minOccurs="0"/>
                <xsd:element ref="ns2:_Flow_SignoffStatu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f4746f-eab9-4dbf-84d4-38d6443c09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4" nillable="true" ma:displayName="MediaServiceDocTags" ma:hidden="true" ma:internalName="MediaServiceDocTags" ma:readOnly="true">
      <xsd:simpleType>
        <xsd:restriction base="dms:Note"/>
      </xsd:simpleType>
    </xsd:element>
    <xsd:element name="MediaServiceDateTaken" ma:index="2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00f5c7-545f-4bc6-9c67-8302d1f916b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3522281-892c-4e5b-8d55-2d371878f6fe}" ma:internalName="TaxCatchAll" ma:showField="CatchAllData" ma:web="3800f5c7-545f-4bc6-9c67-8302d1f916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6DAC27-07BE-4C76-8F13-380F251EFE0A}">
  <ds:schemaRefs>
    <ds:schemaRef ds:uri="230e9df3-be65-4c73-a93b-d1236ebd677e"/>
    <ds:schemaRef ds:uri="3800f5c7-545f-4bc6-9c67-8302d1f916b9"/>
    <ds:schemaRef ds:uri="b9f4746f-eab9-4dbf-84d4-38d6443c092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8B07C44-8F64-41B1-A8A5-A0CB9D66A4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9416C3-5709-43A6-8BA9-81538521A322}">
  <ds:schemaRefs>
    <ds:schemaRef ds:uri="230e9df3-be65-4c73-a93b-d1236ebd677e"/>
    <ds:schemaRef ds:uri="3800f5c7-545f-4bc6-9c67-8302d1f916b9"/>
    <ds:schemaRef ds:uri="b9f4746f-eab9-4dbf-84d4-38d6443c092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1341</TotalTime>
  <Words>1945</Words>
  <PresentationFormat>Widescreen</PresentationFormat>
  <Paragraphs>412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Courier New</vt:lpstr>
      <vt:lpstr>Segoe UI</vt:lpstr>
      <vt:lpstr>Segoe UI Semibold</vt:lpstr>
      <vt:lpstr>Wingdings</vt:lpstr>
      <vt:lpstr>office theme</vt:lpstr>
      <vt:lpstr>3_InfosysDefaultTheme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terms:created xsi:type="dcterms:W3CDTF">2024-10-29T17:55:38Z</dcterms:created>
  <dcterms:modified xsi:type="dcterms:W3CDTF">2026-03-03T23:39:02Z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0x010100AECDE8FF1E05E54A8AA8398D7B32FFCC</vt:lpwstr>
  </property>
  <property fmtid="{D5CDD505-2E9C-101B-9397-08002B2CF9AE}" pid="3" name="MediaServiceImageTags">
    <vt:lpwstr/>
  </property>
</Properties>
</file>